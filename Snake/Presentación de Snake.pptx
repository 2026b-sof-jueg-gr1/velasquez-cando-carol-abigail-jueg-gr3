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5b57ecbe-5dd2-a8c8-b9ce-708db0243c11}">
          <p14:sldIdLst>
            <p14:sldId id="256"/>
          </p14:sldIdLst>
        </p14:section>
        <p14:section name="Diseño del juego" id="{3caa6af6-81b6-eaa8-09a2-9ca0528cb2a6}">
          <p14:sldIdLst>
            <p14:sldId id="257"/>
          </p14:sldIdLst>
        </p14:section>
        <p14:section name="Tecnología" id="{6a4104b7-32c9-700f-d2e3-9b49d84342c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ódigo" id="{b940b870-84b4-d56c-2310-aa9ebb71056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juego Snake desarrollado con Phaser 3 para la materia de Desarrollo de Juegos Interactivos.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IZQ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CENT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CENTRO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o fondo"/>
          <p:cNvSpPr/>
          <p:nvPr/>
        </p:nvSpPr>
        <p:spPr>
          <a:xfrm>
            <a:off x="4206240" y="914400"/>
            <a:ext cx="731520" cy="731520"/>
          </a:xfrm>
          <a:prstGeom prst="roundRect">
            <a:avLst>
              <a:gd name="adj" fmla="val 22500"/>
            </a:avLst>
          </a:prstGeom>
          <a:solidFill>
            <a:schemeClr val="accent1"/>
          </a:solidFill>
          <a:ln/>
        </p:spPr>
      </p:sp>
      <p:pic>
        <p:nvPicPr>
          <p:cNvPr id="3" name="Icono serpiente" descr="Icono de serp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51560"/>
            <a:ext cx="457200" cy="457200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Snake</a:t>
            </a:r>
            <a:endParaRPr lang="en-US" sz="5800" dirty="0"/>
          </a:p>
        </p:txBody>
      </p:sp>
      <p:sp>
        <p:nvSpPr>
          <p:cNvPr id="5" name="Subtitulo"/>
          <p:cNvSpPr txBox="1"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El clásico de la serpiente con Phaser 3 y JavaScript.</a:t>
            </a:r>
            <a:endParaRPr lang="en-US" sz="1800" dirty="0"/>
          </a:p>
        </p:txBody>
      </p:sp>
      <p:sp>
        <p:nvSpPr>
          <p:cNvPr id="6" name="URL fondo"/>
          <p:cNvSpPr/>
          <p:nvPr/>
        </p:nvSpPr>
        <p:spPr>
          <a:xfrm>
            <a:off x="2331720" y="3474720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1E2A3F"/>
          </a:solidFill>
          <a:ln/>
        </p:spPr>
      </p:sp>
      <p:sp>
        <p:nvSpPr>
          <p:cNvPr id="7" name="URL"/>
          <p:cNvSpPr txBox="1"/>
          <p:nvPr/>
        </p:nvSpPr>
        <p:spPr>
          <a:xfrm>
            <a:off x="2331720" y="3474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github.com/2026B-sof-jueg-gr1/...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Dinámica del Juego</a:t>
            </a:r>
            <a:endParaRPr lang="en-US" sz="3200" dirty="0"/>
          </a:p>
        </p:txBody>
      </p:sp>
      <p:sp>
        <p:nvSpPr>
          <p:cNvPr id="3" name="Tarjeta 1"/>
          <p:cNvSpPr/>
          <p:nvPr/>
        </p:nvSpPr>
        <p:spPr>
          <a:xfrm>
            <a:off x="54864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pic>
        <p:nvPicPr>
          <p:cNvPr id="4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347472" cy="347472"/>
          </a:xfrm>
          <a:prstGeom prst="rect">
            <a:avLst/>
          </a:prstGeom>
        </p:spPr>
      </p:pic>
      <p:sp>
        <p:nvSpPr>
          <p:cNvPr id="5" name="Titulo tarjeta 1"/>
          <p:cNvSpPr txBox="1"/>
          <p:nvPr/>
        </p:nvSpPr>
        <p:spPr>
          <a:xfrm>
            <a:off x="82296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Comer y Crecer</a:t>
            </a:r>
            <a:endParaRPr lang="en-US" sz="1700" dirty="0"/>
          </a:p>
        </p:txBody>
      </p:sp>
      <p:sp>
        <p:nvSpPr>
          <p:cNvPr id="6" name="Texto tarjeta 1"/>
          <p:cNvSpPr txBox="1"/>
          <p:nvPr/>
        </p:nvSpPr>
        <p:spPr>
          <a:xfrm>
            <a:off x="82296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Cada manzana suma 10 puntos y alarga la serpiente un segmento.</a:t>
            </a:r>
            <a:endParaRPr lang="en-US" sz="1300" dirty="0"/>
          </a:p>
        </p:txBody>
      </p:sp>
      <p:sp>
        <p:nvSpPr>
          <p:cNvPr id="7" name="Tarjeta 2"/>
          <p:cNvSpPr/>
          <p:nvPr/>
        </p:nvSpPr>
        <p:spPr>
          <a:xfrm>
            <a:off x="329184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pic>
        <p:nvPicPr>
          <p:cNvPr id="8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57400"/>
            <a:ext cx="347472" cy="347472"/>
          </a:xfrm>
          <a:prstGeom prst="rect">
            <a:avLst/>
          </a:prstGeom>
        </p:spPr>
      </p:pic>
      <p:sp>
        <p:nvSpPr>
          <p:cNvPr id="9" name="Titulo tarjeta 2"/>
          <p:cNvSpPr txBox="1"/>
          <p:nvPr/>
        </p:nvSpPr>
        <p:spPr>
          <a:xfrm>
            <a:off x="356616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Cuadrícula</a:t>
            </a:r>
            <a:endParaRPr lang="en-US" sz="1700" dirty="0"/>
          </a:p>
        </p:txBody>
      </p:sp>
      <p:sp>
        <p:nvSpPr>
          <p:cNvPr id="10" name="Texto tarjeta 2"/>
          <p:cNvSpPr txBox="1"/>
          <p:nvPr/>
        </p:nvSpPr>
        <p:spPr>
          <a:xfrm>
            <a:off x="356616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Movimiento por celdas de 20 px en un tablero de 40 × 30.</a:t>
            </a:r>
            <a:endParaRPr lang="en-US" sz="1300" dirty="0"/>
          </a:p>
        </p:txBody>
      </p:sp>
      <p:sp>
        <p:nvSpPr>
          <p:cNvPr id="11" name="Tarjeta 3"/>
          <p:cNvSpPr/>
          <p:nvPr/>
        </p:nvSpPr>
        <p:spPr>
          <a:xfrm>
            <a:off x="603504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pic>
        <p:nvPicPr>
          <p:cNvPr id="12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57400"/>
            <a:ext cx="347472" cy="347472"/>
          </a:xfrm>
          <a:prstGeom prst="rect">
            <a:avLst/>
          </a:prstGeom>
        </p:spPr>
      </p:pic>
      <p:sp>
        <p:nvSpPr>
          <p:cNvPr id="13" name="Titulo tarjeta 3"/>
          <p:cNvSpPr txBox="1"/>
          <p:nvPr/>
        </p:nvSpPr>
        <p:spPr>
          <a:xfrm>
            <a:off x="630936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Dificultad Creciente</a:t>
            </a:r>
            <a:endParaRPr lang="en-US" sz="1700" dirty="0"/>
          </a:p>
        </p:txBody>
      </p:sp>
      <p:sp>
        <p:nvSpPr>
          <p:cNvPr id="14" name="Texto tarjeta 3"/>
          <p:cNvSpPr txBox="1"/>
          <p:nvPr/>
        </p:nvSpPr>
        <p:spPr>
          <a:xfrm>
            <a:off x="6309360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La serpiente acelera con cada manzana que come.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3" name="Fondo icono 1"/>
          <p:cNvSpPr/>
          <p:nvPr/>
        </p:nvSpPr>
        <p:spPr>
          <a:xfrm>
            <a:off x="548640" y="1691640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pic>
        <p:nvPicPr>
          <p:cNvPr id="4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47088"/>
            <a:ext cx="283464" cy="283464"/>
          </a:xfrm>
          <a:prstGeom prst="rect">
            <a:avLst/>
          </a:prstGeom>
        </p:spPr>
      </p:pic>
      <p:sp>
        <p:nvSpPr>
          <p:cNvPr id="5" name="Nombre 1"/>
          <p:cNvSpPr txBox="1"/>
          <p:nvPr/>
        </p:nvSpPr>
        <p:spPr>
          <a:xfrm>
            <a:off x="1325880" y="16550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Phaser 3.80.1</a:t>
            </a:r>
            <a:endParaRPr lang="en-US" sz="1800" dirty="0"/>
          </a:p>
        </p:txBody>
      </p:sp>
      <p:sp>
        <p:nvSpPr>
          <p:cNvPr id="6" name="Descripcion 1"/>
          <p:cNvSpPr txBox="1"/>
          <p:nvPr/>
        </p:nvSpPr>
        <p:spPr>
          <a:xfrm>
            <a:off x="1325880" y="2020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Motor de juego: escenas, gráficos, teclado y cámara.</a:t>
            </a:r>
            <a:endParaRPr lang="en-US" sz="1300" dirty="0"/>
          </a:p>
        </p:txBody>
      </p:sp>
      <p:sp>
        <p:nvSpPr>
          <p:cNvPr id="7" name="Fondo icono 2"/>
          <p:cNvSpPr/>
          <p:nvPr/>
        </p:nvSpPr>
        <p:spPr>
          <a:xfrm>
            <a:off x="4663440" y="1691640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pic>
        <p:nvPicPr>
          <p:cNvPr id="8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847088"/>
            <a:ext cx="283464" cy="283464"/>
          </a:xfrm>
          <a:prstGeom prst="rect">
            <a:avLst/>
          </a:prstGeom>
        </p:spPr>
      </p:pic>
      <p:sp>
        <p:nvSpPr>
          <p:cNvPr id="9" name="Nombre 2"/>
          <p:cNvSpPr txBox="1"/>
          <p:nvPr/>
        </p:nvSpPr>
        <p:spPr>
          <a:xfrm>
            <a:off x="5440680" y="16550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0" name="Descripcion 2"/>
          <p:cNvSpPr txBox="1"/>
          <p:nvPr/>
        </p:nvSpPr>
        <p:spPr>
          <a:xfrm>
            <a:off x="5440680" y="2020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Lógica del juego escrita con clases ES6, sin frameworks.</a:t>
            </a:r>
            <a:endParaRPr lang="en-US" sz="1300" dirty="0"/>
          </a:p>
        </p:txBody>
      </p:sp>
      <p:sp>
        <p:nvSpPr>
          <p:cNvPr id="11" name="Fondo icono 3"/>
          <p:cNvSpPr/>
          <p:nvPr/>
        </p:nvSpPr>
        <p:spPr>
          <a:xfrm>
            <a:off x="548640" y="3108960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pic>
        <p:nvPicPr>
          <p:cNvPr id="12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264408"/>
            <a:ext cx="283464" cy="283464"/>
          </a:xfrm>
          <a:prstGeom prst="rect">
            <a:avLst/>
          </a:prstGeom>
        </p:spPr>
      </p:pic>
      <p:sp>
        <p:nvSpPr>
          <p:cNvPr id="13" name="Nombre 3"/>
          <p:cNvSpPr txBox="1"/>
          <p:nvPr/>
        </p:nvSpPr>
        <p:spPr>
          <a:xfrm>
            <a:off x="1325880" y="30723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HTML5 + CDN</a:t>
            </a:r>
            <a:endParaRPr lang="en-US" sz="1800" dirty="0"/>
          </a:p>
        </p:txBody>
      </p:sp>
      <p:sp>
        <p:nvSpPr>
          <p:cNvPr id="14" name="Descripcion 3"/>
          <p:cNvSpPr txBox="1"/>
          <p:nvPr/>
        </p:nvSpPr>
        <p:spPr>
          <a:xfrm>
            <a:off x="1325880" y="34381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index.html carga Phaser desde jsDelivr y aloja el lienzo.</a:t>
            </a:r>
            <a:endParaRPr lang="en-US" sz="1300" dirty="0"/>
          </a:p>
        </p:txBody>
      </p:sp>
      <p:sp>
        <p:nvSpPr>
          <p:cNvPr id="15" name="Fondo icono 4"/>
          <p:cNvSpPr/>
          <p:nvPr/>
        </p:nvSpPr>
        <p:spPr>
          <a:xfrm>
            <a:off x="4663440" y="3108960"/>
            <a:ext cx="59436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pic>
        <p:nvPicPr>
          <p:cNvPr id="16" name="Icon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64408"/>
            <a:ext cx="283464" cy="283464"/>
          </a:xfrm>
          <a:prstGeom prst="rect">
            <a:avLst/>
          </a:prstGeom>
        </p:spPr>
      </p:pic>
      <p:sp>
        <p:nvSpPr>
          <p:cNvPr id="17" name="Nombre 4"/>
          <p:cNvSpPr txBox="1"/>
          <p:nvPr/>
        </p:nvSpPr>
        <p:spPr>
          <a:xfrm>
            <a:off x="5440680" y="30723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localStorage</a:t>
            </a:r>
            <a:endParaRPr lang="en-US" sz="1800" dirty="0"/>
          </a:p>
        </p:txBody>
      </p:sp>
      <p:sp>
        <p:nvSpPr>
          <p:cNvPr id="18" name="Descripcion 4"/>
          <p:cNvSpPr txBox="1"/>
          <p:nvPr/>
        </p:nvSpPr>
        <p:spPr>
          <a:xfrm>
            <a:off x="5440680" y="34381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Guarda el récord de puntos en el navegador.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Ciclo de una Partida</a:t>
            </a:r>
            <a:endParaRPr lang="en-US" sz="3200" dirty="0"/>
          </a:p>
        </p:txBody>
      </p:sp>
      <p:sp>
        <p:nvSpPr>
          <p:cNvPr id="3" name="Linea de flujo"/>
          <p:cNvSpPr/>
          <p:nvPr/>
        </p:nvSpPr>
        <p:spPr>
          <a:xfrm>
            <a:off x="1097280" y="2057400"/>
            <a:ext cx="694944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Circulo 1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29384"/>
            <a:ext cx="256032" cy="256032"/>
          </a:xfrm>
          <a:prstGeom prst="rect">
            <a:avLst/>
          </a:prstGeom>
        </p:spPr>
      </p:pic>
      <p:sp>
        <p:nvSpPr>
          <p:cNvPr id="6" name="Paso 1"/>
          <p:cNvSpPr txBox="1"/>
          <p:nvPr/>
        </p:nvSpPr>
        <p:spPr>
          <a:xfrm>
            <a:off x="32004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create()</a:t>
            </a:r>
            <a:endParaRPr lang="en-US" sz="1500" dirty="0"/>
          </a:p>
        </p:txBody>
      </p:sp>
      <p:sp>
        <p:nvSpPr>
          <p:cNvPr id="7" name="Detalle 1"/>
          <p:cNvSpPr txBox="1"/>
          <p:nvPr/>
        </p:nvSpPr>
        <p:spPr>
          <a:xfrm>
            <a:off x="32004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Prepara serpiente, tablero y comida.</a:t>
            </a:r>
            <a:endParaRPr lang="en-US" sz="1200" dirty="0"/>
          </a:p>
        </p:txBody>
      </p:sp>
      <p:sp>
        <p:nvSpPr>
          <p:cNvPr id="8" name="Circulo 2"/>
          <p:cNvSpPr/>
          <p:nvPr/>
        </p:nvSpPr>
        <p:spPr>
          <a:xfrm>
            <a:off x="256032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929384"/>
            <a:ext cx="256032" cy="256032"/>
          </a:xfrm>
          <a:prstGeom prst="rect">
            <a:avLst/>
          </a:prstGeom>
        </p:spPr>
      </p:pic>
      <p:sp>
        <p:nvSpPr>
          <p:cNvPr id="10" name="Paso 2"/>
          <p:cNvSpPr txBox="1"/>
          <p:nvPr/>
        </p:nvSpPr>
        <p:spPr>
          <a:xfrm>
            <a:off x="205740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Entrada</a:t>
            </a:r>
            <a:endParaRPr lang="en-US" sz="1500" dirty="0"/>
          </a:p>
        </p:txBody>
      </p:sp>
      <p:sp>
        <p:nvSpPr>
          <p:cNvPr id="11" name="Detalle 2"/>
          <p:cNvSpPr txBox="1"/>
          <p:nvPr/>
        </p:nvSpPr>
        <p:spPr>
          <a:xfrm>
            <a:off x="205740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Lee flechas o WASD.</a:t>
            </a:r>
            <a:endParaRPr lang="en-US" sz="1200" dirty="0"/>
          </a:p>
        </p:txBody>
      </p:sp>
      <p:sp>
        <p:nvSpPr>
          <p:cNvPr id="12" name="Circulo 3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929384"/>
            <a:ext cx="256032" cy="256032"/>
          </a:xfrm>
          <a:prstGeom prst="rect">
            <a:avLst/>
          </a:prstGeom>
        </p:spPr>
      </p:pic>
      <p:sp>
        <p:nvSpPr>
          <p:cNvPr id="14" name="Paso 3"/>
          <p:cNvSpPr txBox="1"/>
          <p:nvPr/>
        </p:nvSpPr>
        <p:spPr>
          <a:xfrm>
            <a:off x="379476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step()</a:t>
            </a:r>
            <a:endParaRPr lang="en-US" sz="1500" dirty="0"/>
          </a:p>
        </p:txBody>
      </p:sp>
      <p:sp>
        <p:nvSpPr>
          <p:cNvPr id="15" name="Detalle 3"/>
          <p:cNvSpPr txBox="1"/>
          <p:nvPr/>
        </p:nvSpPr>
        <p:spPr>
          <a:xfrm>
            <a:off x="379476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Avanza una celda.</a:t>
            </a:r>
            <a:endParaRPr lang="en-US" sz="1200" dirty="0"/>
          </a:p>
        </p:txBody>
      </p:sp>
      <p:sp>
        <p:nvSpPr>
          <p:cNvPr id="16" name="Circulo 4"/>
          <p:cNvSpPr/>
          <p:nvPr/>
        </p:nvSpPr>
        <p:spPr>
          <a:xfrm>
            <a:off x="603504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con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929384"/>
            <a:ext cx="256032" cy="256032"/>
          </a:xfrm>
          <a:prstGeom prst="rect">
            <a:avLst/>
          </a:prstGeom>
        </p:spPr>
      </p:pic>
      <p:sp>
        <p:nvSpPr>
          <p:cNvPr id="18" name="Paso 4"/>
          <p:cNvSpPr txBox="1"/>
          <p:nvPr/>
        </p:nvSpPr>
        <p:spPr>
          <a:xfrm>
            <a:off x="55321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Comer</a:t>
            </a:r>
            <a:endParaRPr lang="en-US" sz="1500" dirty="0"/>
          </a:p>
        </p:txBody>
      </p:sp>
      <p:sp>
        <p:nvSpPr>
          <p:cNvPr id="19" name="Detalle 4"/>
          <p:cNvSpPr txBox="1"/>
          <p:nvPr/>
        </p:nvSpPr>
        <p:spPr>
          <a:xfrm>
            <a:off x="553212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Crece y acelera.</a:t>
            </a:r>
            <a:endParaRPr lang="en-US" sz="1200" dirty="0"/>
          </a:p>
        </p:txBody>
      </p:sp>
      <p:sp>
        <p:nvSpPr>
          <p:cNvPr id="20" name="Circulo 5"/>
          <p:cNvSpPr/>
          <p:nvPr/>
        </p:nvSpPr>
        <p:spPr>
          <a:xfrm>
            <a:off x="777240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o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1929384"/>
            <a:ext cx="256032" cy="256032"/>
          </a:xfrm>
          <a:prstGeom prst="rect">
            <a:avLst/>
          </a:prstGeom>
        </p:spPr>
      </p:pic>
      <p:sp>
        <p:nvSpPr>
          <p:cNvPr id="22" name="Paso 5"/>
          <p:cNvSpPr txBox="1"/>
          <p:nvPr/>
        </p:nvSpPr>
        <p:spPr>
          <a:xfrm>
            <a:off x="726948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gameOver()</a:t>
            </a:r>
            <a:endParaRPr lang="en-US" sz="1500" dirty="0"/>
          </a:p>
        </p:txBody>
      </p:sp>
      <p:sp>
        <p:nvSpPr>
          <p:cNvPr id="23" name="Detalle 5"/>
          <p:cNvSpPr txBox="1"/>
          <p:nvPr/>
        </p:nvSpPr>
        <p:spPr>
          <a:xfrm>
            <a:off x="726948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Choque y récord.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1430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Estructura del Tablero</a:t>
            </a:r>
            <a:endParaRPr lang="en-US" sz="3200" dirty="0"/>
          </a:p>
        </p:txBody>
      </p:sp>
      <p:pic>
        <p:nvPicPr>
          <p:cNvPr id="3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39696"/>
            <a:ext cx="237744" cy="237744"/>
          </a:xfrm>
          <a:prstGeom prst="rect">
            <a:avLst/>
          </a:prstGeom>
        </p:spPr>
      </p:pic>
      <p:sp>
        <p:nvSpPr>
          <p:cNvPr id="4" name="Punto 1"/>
          <p:cNvSpPr txBox="1"/>
          <p:nvPr/>
        </p:nvSpPr>
        <p:spPr>
          <a:xfrm>
            <a:off x="960120" y="2103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Lienzo de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800 × 600 px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pic>
        <p:nvPicPr>
          <p:cNvPr id="5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5184"/>
            <a:ext cx="237744" cy="237744"/>
          </a:xfrm>
          <a:prstGeom prst="rect">
            <a:avLst/>
          </a:prstGeom>
        </p:spPr>
      </p:pic>
      <p:sp>
        <p:nvSpPr>
          <p:cNvPr id="6" name="Punto 2"/>
          <p:cNvSpPr txBox="1"/>
          <p:nvPr/>
        </p:nvSpPr>
        <p:spPr>
          <a:xfrm>
            <a:off x="960120" y="2578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Celdas de 20 px: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 columnas × 30 filas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pic>
        <p:nvPicPr>
          <p:cNvPr id="7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90672"/>
            <a:ext cx="237744" cy="237744"/>
          </a:xfrm>
          <a:prstGeom prst="rect">
            <a:avLst/>
          </a:prstGeom>
        </p:spPr>
      </p:pic>
      <p:sp>
        <p:nvSpPr>
          <p:cNvPr id="8" name="Punto 3"/>
          <p:cNvSpPr txBox="1"/>
          <p:nvPr/>
        </p:nvSpPr>
        <p:spPr>
          <a:xfrm>
            <a:off x="960120" y="30540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Comida en una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celda libre al azar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pic>
        <p:nvPicPr>
          <p:cNvPr id="9" name="Icon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237744" cy="237744"/>
          </a:xfrm>
          <a:prstGeom prst="rect">
            <a:avLst/>
          </a:prstGeom>
        </p:spPr>
      </p:pic>
      <p:sp>
        <p:nvSpPr>
          <p:cNvPr id="10" name="Punto 4"/>
          <p:cNvSpPr txBox="1"/>
          <p:nvPr/>
        </p:nvSpPr>
        <p:spPr>
          <a:xfrm>
            <a:off x="960120" y="35295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Dibujo con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add.grid() y Graphics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Tablero"/>
          <p:cNvSpPr/>
          <p:nvPr/>
        </p:nvSpPr>
        <p:spPr>
          <a:xfrm>
            <a:off x="5879592" y="941832"/>
            <a:ext cx="2779776" cy="2231136"/>
          </a:xfrm>
          <a:prstGeom prst="roundRect">
            <a:avLst>
              <a:gd name="adj" fmla="val 3279"/>
            </a:avLst>
          </a:prstGeom>
          <a:solidFill>
            <a:srgbClr val="1B1B1B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12" name="Grid v1"/>
          <p:cNvSpPr/>
          <p:nvPr/>
        </p:nvSpPr>
        <p:spPr>
          <a:xfrm>
            <a:off x="617220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Grid v2"/>
          <p:cNvSpPr/>
          <p:nvPr/>
        </p:nvSpPr>
        <p:spPr>
          <a:xfrm>
            <a:off x="635508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Grid v3"/>
          <p:cNvSpPr/>
          <p:nvPr/>
        </p:nvSpPr>
        <p:spPr>
          <a:xfrm>
            <a:off x="653796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5" name="Grid v4"/>
          <p:cNvSpPr/>
          <p:nvPr/>
        </p:nvSpPr>
        <p:spPr>
          <a:xfrm>
            <a:off x="672084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Grid v5"/>
          <p:cNvSpPr/>
          <p:nvPr/>
        </p:nvSpPr>
        <p:spPr>
          <a:xfrm>
            <a:off x="690372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Grid v6"/>
          <p:cNvSpPr/>
          <p:nvPr/>
        </p:nvSpPr>
        <p:spPr>
          <a:xfrm>
            <a:off x="708660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8" name="Grid v7"/>
          <p:cNvSpPr/>
          <p:nvPr/>
        </p:nvSpPr>
        <p:spPr>
          <a:xfrm>
            <a:off x="726948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9" name="Grid v8"/>
          <p:cNvSpPr/>
          <p:nvPr/>
        </p:nvSpPr>
        <p:spPr>
          <a:xfrm>
            <a:off x="745236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Grid v9"/>
          <p:cNvSpPr/>
          <p:nvPr/>
        </p:nvSpPr>
        <p:spPr>
          <a:xfrm>
            <a:off x="763524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1" name="Grid v10"/>
          <p:cNvSpPr/>
          <p:nvPr/>
        </p:nvSpPr>
        <p:spPr>
          <a:xfrm>
            <a:off x="781812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2" name="Grid v11"/>
          <p:cNvSpPr/>
          <p:nvPr/>
        </p:nvSpPr>
        <p:spPr>
          <a:xfrm>
            <a:off x="800100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3" name="Grid v12"/>
          <p:cNvSpPr/>
          <p:nvPr/>
        </p:nvSpPr>
        <p:spPr>
          <a:xfrm>
            <a:off x="818388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4" name="Grid v13"/>
          <p:cNvSpPr/>
          <p:nvPr/>
        </p:nvSpPr>
        <p:spPr>
          <a:xfrm>
            <a:off x="8366760" y="1051560"/>
            <a:ext cx="0" cy="201168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5" name="Grid h1"/>
          <p:cNvSpPr/>
          <p:nvPr/>
        </p:nvSpPr>
        <p:spPr>
          <a:xfrm>
            <a:off x="5989320" y="123444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6" name="Grid h2"/>
          <p:cNvSpPr/>
          <p:nvPr/>
        </p:nvSpPr>
        <p:spPr>
          <a:xfrm>
            <a:off x="5989320" y="141732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7" name="Grid h3"/>
          <p:cNvSpPr/>
          <p:nvPr/>
        </p:nvSpPr>
        <p:spPr>
          <a:xfrm>
            <a:off x="5989320" y="160020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8" name="Grid h4"/>
          <p:cNvSpPr/>
          <p:nvPr/>
        </p:nvSpPr>
        <p:spPr>
          <a:xfrm>
            <a:off x="5989320" y="178308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9" name="Grid h5"/>
          <p:cNvSpPr/>
          <p:nvPr/>
        </p:nvSpPr>
        <p:spPr>
          <a:xfrm>
            <a:off x="5989320" y="196596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0" name="Grid h6"/>
          <p:cNvSpPr/>
          <p:nvPr/>
        </p:nvSpPr>
        <p:spPr>
          <a:xfrm>
            <a:off x="5989320" y="214884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1" name="Grid h7"/>
          <p:cNvSpPr/>
          <p:nvPr/>
        </p:nvSpPr>
        <p:spPr>
          <a:xfrm>
            <a:off x="5989320" y="233172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2" name="Grid h8"/>
          <p:cNvSpPr/>
          <p:nvPr/>
        </p:nvSpPr>
        <p:spPr>
          <a:xfrm>
            <a:off x="5989320" y="251460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3" name="Grid h9"/>
          <p:cNvSpPr/>
          <p:nvPr/>
        </p:nvSpPr>
        <p:spPr>
          <a:xfrm>
            <a:off x="5989320" y="269748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4" name="Grid h10"/>
          <p:cNvSpPr/>
          <p:nvPr/>
        </p:nvSpPr>
        <p:spPr>
          <a:xfrm>
            <a:off x="5989320" y="288036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5" name="Segmento 1"/>
          <p:cNvSpPr/>
          <p:nvPr/>
        </p:nvSpPr>
        <p:spPr>
          <a:xfrm>
            <a:off x="7466076" y="1979676"/>
            <a:ext cx="155448" cy="155448"/>
          </a:xfrm>
          <a:prstGeom prst="rect">
            <a:avLst/>
          </a:prstGeom>
          <a:solidFill>
            <a:srgbClr val="7BED9F"/>
          </a:solidFill>
          <a:ln/>
        </p:spPr>
      </p:sp>
      <p:sp>
        <p:nvSpPr>
          <p:cNvPr id="36" name="Segmento 2"/>
          <p:cNvSpPr/>
          <p:nvPr/>
        </p:nvSpPr>
        <p:spPr>
          <a:xfrm>
            <a:off x="7283196" y="1979676"/>
            <a:ext cx="155448" cy="1554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7" name="Segmento 3"/>
          <p:cNvSpPr/>
          <p:nvPr/>
        </p:nvSpPr>
        <p:spPr>
          <a:xfrm>
            <a:off x="7100316" y="1979676"/>
            <a:ext cx="155448" cy="1554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8" name="Segmento 4"/>
          <p:cNvSpPr/>
          <p:nvPr/>
        </p:nvSpPr>
        <p:spPr>
          <a:xfrm>
            <a:off x="6917436" y="1979676"/>
            <a:ext cx="155448" cy="1554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9" name="Segmento 5"/>
          <p:cNvSpPr/>
          <p:nvPr/>
        </p:nvSpPr>
        <p:spPr>
          <a:xfrm>
            <a:off x="6917436" y="2162556"/>
            <a:ext cx="155448" cy="1554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0" name="Segmento 6"/>
          <p:cNvSpPr/>
          <p:nvPr/>
        </p:nvSpPr>
        <p:spPr>
          <a:xfrm>
            <a:off x="6917436" y="2345436"/>
            <a:ext cx="155448" cy="1554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1" name="Segmento 7"/>
          <p:cNvSpPr/>
          <p:nvPr/>
        </p:nvSpPr>
        <p:spPr>
          <a:xfrm>
            <a:off x="6734556" y="2345436"/>
            <a:ext cx="155448" cy="1554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2" name="Comida"/>
          <p:cNvSpPr/>
          <p:nvPr/>
        </p:nvSpPr>
        <p:spPr>
          <a:xfrm>
            <a:off x="8028432" y="1627632"/>
            <a:ext cx="128016" cy="12801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Marcador"/>
          <p:cNvSpPr txBox="1"/>
          <p:nvPr/>
        </p:nvSpPr>
        <p:spPr>
          <a:xfrm>
            <a:off x="6035040" y="1069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Puntos: 70</a:t>
            </a:r>
            <a:endParaRPr lang="en-US" sz="800" dirty="0"/>
          </a:p>
        </p:txBody>
      </p:sp>
      <p:sp>
        <p:nvSpPr>
          <p:cNvPr id="44" name="Pie tablero"/>
          <p:cNvSpPr txBox="1"/>
          <p:nvPr/>
        </p:nvSpPr>
        <p:spPr>
          <a:xfrm>
            <a:off x="5879592" y="326440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Vista simplificada del tablero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Bucle de Tiempo Fijo</a:t>
            </a:r>
            <a:endParaRPr lang="en-US" sz="3200" dirty="0"/>
          </a:p>
        </p:txBody>
      </p:sp>
      <p:sp>
        <p:nvSpPr>
          <p:cNvPr id="3" name="Tarjeta 1"/>
          <p:cNvSpPr/>
          <p:nvPr/>
        </p:nvSpPr>
        <p:spPr>
          <a:xfrm>
            <a:off x="914400" y="169164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pic>
        <p:nvPicPr>
          <p:cNvPr id="4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1965960"/>
            <a:ext cx="402336" cy="402336"/>
          </a:xfrm>
          <a:prstGeom prst="rect">
            <a:avLst/>
          </a:prstGeom>
        </p:spPr>
      </p:pic>
      <p:sp>
        <p:nvSpPr>
          <p:cNvPr id="5" name="Titulo tarjeta 1"/>
          <p:cNvSpPr txBox="1"/>
          <p:nvPr/>
        </p:nvSpPr>
        <p:spPr>
          <a:xfrm>
            <a:off x="10515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update(delta)</a:t>
            </a:r>
            <a:endParaRPr lang="en-US" sz="1600" dirty="0"/>
          </a:p>
        </p:txBody>
      </p:sp>
      <p:sp>
        <p:nvSpPr>
          <p:cNvPr id="6" name="Texto tarjeta 1"/>
          <p:cNvSpPr txBox="1"/>
          <p:nvPr/>
        </p:nvSpPr>
        <p:spPr>
          <a:xfrm>
            <a:off x="109728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Acumula el tiempo y ejecuta un paso cada vez que se cumple el intervalo.</a:t>
            </a:r>
            <a:endParaRPr lang="en-US" sz="1200" dirty="0"/>
          </a:p>
        </p:txBody>
      </p:sp>
      <p:sp>
        <p:nvSpPr>
          <p:cNvPr id="7" name="Tarjeta 2"/>
          <p:cNvSpPr/>
          <p:nvPr/>
        </p:nvSpPr>
        <p:spPr>
          <a:xfrm>
            <a:off x="3429000" y="169164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pic>
        <p:nvPicPr>
          <p:cNvPr id="8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65960"/>
            <a:ext cx="402336" cy="402336"/>
          </a:xfrm>
          <a:prstGeom prst="rect">
            <a:avLst/>
          </a:prstGeom>
        </p:spPr>
      </p:pic>
      <p:sp>
        <p:nvSpPr>
          <p:cNvPr id="9" name="Titulo tarjeta 2"/>
          <p:cNvSpPr txBox="1"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Velocidad Progresiva</a:t>
            </a:r>
            <a:endParaRPr lang="en-US" sz="1600" dirty="0"/>
          </a:p>
        </p:txBody>
      </p:sp>
      <p:sp>
        <p:nvSpPr>
          <p:cNvPr id="10" name="Texto tarjeta 2"/>
          <p:cNvSpPr txBox="1"/>
          <p:nvPr/>
        </p:nvSpPr>
        <p:spPr>
          <a:xfrm>
            <a:off x="361188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Empieza en 120 ms por paso y baja 3 ms por manzana, hasta 60 ms.</a:t>
            </a:r>
            <a:endParaRPr lang="en-US" sz="1200" dirty="0"/>
          </a:p>
        </p:txBody>
      </p:sp>
      <p:sp>
        <p:nvSpPr>
          <p:cNvPr id="11" name="Tarjeta 3"/>
          <p:cNvSpPr/>
          <p:nvPr/>
        </p:nvSpPr>
        <p:spPr>
          <a:xfrm>
            <a:off x="5943600" y="1691640"/>
            <a:ext cx="22860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pic>
        <p:nvPicPr>
          <p:cNvPr id="12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965960"/>
            <a:ext cx="402336" cy="402336"/>
          </a:xfrm>
          <a:prstGeom prst="rect">
            <a:avLst/>
          </a:prstGeom>
        </p:spPr>
      </p:pic>
      <p:sp>
        <p:nvSpPr>
          <p:cNvPr id="13" name="Titulo tarjeta 3"/>
          <p:cNvSpPr txBox="1"/>
          <p:nvPr/>
        </p:nvSpPr>
        <p:spPr>
          <a:xfrm>
            <a:off x="60807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gfx.clear()</a:t>
            </a:r>
            <a:endParaRPr lang="en-US" sz="1600" dirty="0"/>
          </a:p>
        </p:txBody>
      </p:sp>
      <p:sp>
        <p:nvSpPr>
          <p:cNvPr id="14" name="Texto tarjeta 3"/>
          <p:cNvSpPr txBox="1"/>
          <p:nvPr/>
        </p:nvSpPr>
        <p:spPr>
          <a:xfrm>
            <a:off x="612648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Borra y redibuja la serpiente y la comida en cada paso.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Controles y Movimiento</a:t>
            </a:r>
            <a:endParaRPr lang="en-US" sz="3200" dirty="0"/>
          </a:p>
        </p:txBody>
      </p:sp>
      <p:pic>
        <p:nvPicPr>
          <p:cNvPr id="3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274320" cy="274320"/>
          </a:xfrm>
          <a:prstGeom prst="rect">
            <a:avLst/>
          </a:prstGeom>
        </p:spPr>
      </p:pic>
      <p:sp>
        <p:nvSpPr>
          <p:cNvPr id="4" name="Titulo 1"/>
          <p:cNvSpPr txBox="1"/>
          <p:nvPr/>
        </p:nvSpPr>
        <p:spPr>
          <a:xfrm>
            <a:off x="960120" y="1600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Flechas y WASD</a:t>
            </a:r>
            <a:endParaRPr lang="en-US" sz="1800" dirty="0"/>
          </a:p>
        </p:txBody>
      </p:sp>
      <p:sp>
        <p:nvSpPr>
          <p:cNvPr id="5" name="Texto 1"/>
          <p:cNvSpPr txBox="1"/>
          <p:nvPr/>
        </p:nvSpPr>
        <p:spPr>
          <a:xfrm>
            <a:off x="548640" y="2057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Las dos distribuciones se mapean a las mismas cuatro direcciones.</a:t>
            </a:r>
            <a:endParaRPr lang="en-US" sz="1400" dirty="0"/>
          </a:p>
        </p:txBody>
      </p:sp>
      <p:pic>
        <p:nvPicPr>
          <p:cNvPr id="6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27632"/>
            <a:ext cx="274320" cy="274320"/>
          </a:xfrm>
          <a:prstGeom prst="rect">
            <a:avLst/>
          </a:prstGeom>
        </p:spPr>
      </p:pic>
      <p:sp>
        <p:nvSpPr>
          <p:cNvPr id="7" name="Titulo 2"/>
          <p:cNvSpPr txBox="1"/>
          <p:nvPr/>
        </p:nvSpPr>
        <p:spPr>
          <a:xfrm>
            <a:off x="5074920" y="1600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Cola de Giros</a:t>
            </a:r>
            <a:endParaRPr lang="en-US" sz="1800" dirty="0"/>
          </a:p>
        </p:txBody>
      </p:sp>
      <p:sp>
        <p:nvSpPr>
          <p:cNvPr id="8" name="Texto 2"/>
          <p:cNvSpPr txBox="1"/>
          <p:nvPr/>
        </p:nvSpPr>
        <p:spPr>
          <a:xfrm>
            <a:off x="4663440" y="2057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Guarda hasta 2 giros pendientes para responder a pulsaciones rápidas.</a:t>
            </a:r>
            <a:endParaRPr lang="en-US" sz="1400" dirty="0"/>
          </a:p>
        </p:txBody>
      </p:sp>
      <p:pic>
        <p:nvPicPr>
          <p:cNvPr id="9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27832"/>
            <a:ext cx="274320" cy="274320"/>
          </a:xfrm>
          <a:prstGeom prst="rect">
            <a:avLst/>
          </a:prstGeom>
        </p:spPr>
      </p:pic>
      <p:sp>
        <p:nvSpPr>
          <p:cNvPr id="10" name="Titulo 3"/>
          <p:cNvSpPr txBox="1"/>
          <p:nvPr/>
        </p:nvSpPr>
        <p:spPr>
          <a:xfrm>
            <a:off x="960120" y="3200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 Media Vuelta</a:t>
            </a:r>
            <a:endParaRPr lang="en-US" sz="1800" dirty="0"/>
          </a:p>
        </p:txBody>
      </p:sp>
      <p:sp>
        <p:nvSpPr>
          <p:cNvPr id="11" name="Texto 3"/>
          <p:cNvSpPr txBox="1"/>
          <p:nvPr/>
        </p:nvSpPr>
        <p:spPr>
          <a:xfrm>
            <a:off x="54864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 ignora la dirección opuesta para no chocar consigo misma.</a:t>
            </a:r>
            <a:endParaRPr lang="en-US" sz="1400" dirty="0"/>
          </a:p>
        </p:txBody>
      </p:sp>
      <p:pic>
        <p:nvPicPr>
          <p:cNvPr id="12" name="Icono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27832"/>
            <a:ext cx="274320" cy="274320"/>
          </a:xfrm>
          <a:prstGeom prst="rect">
            <a:avLst/>
          </a:prstGeom>
        </p:spPr>
      </p:pic>
      <p:sp>
        <p:nvSpPr>
          <p:cNvPr id="13" name="Titulo 4"/>
          <p:cNvSpPr txBox="1"/>
          <p:nvPr/>
        </p:nvSpPr>
        <p:spPr>
          <a:xfrm>
            <a:off x="5074920" y="3200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addCapture()</a:t>
            </a:r>
            <a:endParaRPr lang="en-US" sz="1800" dirty="0"/>
          </a:p>
        </p:txBody>
      </p:sp>
      <p:sp>
        <p:nvSpPr>
          <p:cNvPr id="14" name="Texto 4"/>
          <p:cNvSpPr txBox="1"/>
          <p:nvPr/>
        </p:nvSpPr>
        <p:spPr>
          <a:xfrm>
            <a:off x="466344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Evita que las flechas y el espacio desplacen la página.</a:t>
            </a:r>
            <a:endParaRPr lang="en-US" sz="1400" dirty="0"/>
          </a:p>
        </p:txBody>
      </p:sp>
      <p:sp>
        <p:nvSpPr>
          <p:cNvPr id="15" name="Separador 1"/>
          <p:cNvSpPr/>
          <p:nvPr/>
        </p:nvSpPr>
        <p:spPr>
          <a:xfrm>
            <a:off x="548640" y="2926080"/>
            <a:ext cx="374904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6" name="Separador 2"/>
          <p:cNvSpPr/>
          <p:nvPr/>
        </p:nvSpPr>
        <p:spPr>
          <a:xfrm>
            <a:off x="4663440" y="2926080"/>
            <a:ext cx="393192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 de la Partida</a:t>
            </a:r>
            <a:endParaRPr lang="en-US" sz="3200" dirty="0"/>
          </a:p>
        </p:txBody>
      </p:sp>
      <p:sp>
        <p:nvSpPr>
          <p:cNvPr id="3" name="Linea"/>
          <p:cNvSpPr/>
          <p:nvPr/>
        </p:nvSpPr>
        <p:spPr>
          <a:xfrm>
            <a:off x="1828800" y="2011680"/>
            <a:ext cx="54864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Circulo 1"/>
          <p:cNvSpPr/>
          <p:nvPr/>
        </p:nvSpPr>
        <p:spPr>
          <a:xfrm>
            <a:off x="1527048" y="1709928"/>
            <a:ext cx="603504" cy="603504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5" name="Icon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865376"/>
            <a:ext cx="292608" cy="292608"/>
          </a:xfrm>
          <a:prstGeom prst="rect">
            <a:avLst/>
          </a:prstGeom>
        </p:spPr>
      </p:pic>
      <p:sp>
        <p:nvSpPr>
          <p:cNvPr id="6" name="Paso 1"/>
          <p:cNvSpPr txBox="1"/>
          <p:nvPr/>
        </p:nvSpPr>
        <p:spPr>
          <a:xfrm>
            <a:off x="6858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Choque</a:t>
            </a:r>
            <a:endParaRPr lang="en-US" sz="1800" dirty="0"/>
          </a:p>
        </p:txBody>
      </p:sp>
      <p:sp>
        <p:nvSpPr>
          <p:cNvPr id="7" name="Detalle 1"/>
          <p:cNvSpPr txBox="1"/>
          <p:nvPr/>
        </p:nvSpPr>
        <p:spPr>
          <a:xfrm>
            <a:off x="68580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Contra la pared o su propio cuerpo; la cámara tiembla con shake().</a:t>
            </a:r>
            <a:endParaRPr lang="en-US" sz="1200" dirty="0"/>
          </a:p>
        </p:txBody>
      </p:sp>
      <p:sp>
        <p:nvSpPr>
          <p:cNvPr id="8" name="Circulo 2"/>
          <p:cNvSpPr/>
          <p:nvPr/>
        </p:nvSpPr>
        <p:spPr>
          <a:xfrm>
            <a:off x="4270248" y="1709928"/>
            <a:ext cx="603504" cy="603504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9" name="Icon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865376"/>
            <a:ext cx="292608" cy="292608"/>
          </a:xfrm>
          <a:prstGeom prst="rect">
            <a:avLst/>
          </a:prstGeom>
        </p:spPr>
      </p:pic>
      <p:sp>
        <p:nvSpPr>
          <p:cNvPr id="10" name="Paso 2"/>
          <p:cNvSpPr txBox="1"/>
          <p:nvPr/>
        </p:nvSpPr>
        <p:spPr>
          <a:xfrm>
            <a:off x="34290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Récord</a:t>
            </a:r>
            <a:endParaRPr lang="en-US" sz="1800" dirty="0"/>
          </a:p>
        </p:txBody>
      </p:sp>
      <p:sp>
        <p:nvSpPr>
          <p:cNvPr id="11" name="Detalle 2"/>
          <p:cNvSpPr txBox="1"/>
          <p:nvPr/>
        </p:nvSpPr>
        <p:spPr>
          <a:xfrm>
            <a:off x="342900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Si se supera la mejor marca, se guarda en localStorage.</a:t>
            </a:r>
            <a:endParaRPr lang="en-US" sz="1200" dirty="0"/>
          </a:p>
        </p:txBody>
      </p:sp>
      <p:sp>
        <p:nvSpPr>
          <p:cNvPr id="12" name="Circulo 3"/>
          <p:cNvSpPr/>
          <p:nvPr/>
        </p:nvSpPr>
        <p:spPr>
          <a:xfrm>
            <a:off x="7013448" y="1709928"/>
            <a:ext cx="603504" cy="603504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3" name="Icono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865376"/>
            <a:ext cx="292608" cy="292608"/>
          </a:xfrm>
          <a:prstGeom prst="rect">
            <a:avLst/>
          </a:prstGeom>
        </p:spPr>
      </p:pic>
      <p:sp>
        <p:nvSpPr>
          <p:cNvPr id="14" name="Paso 3"/>
          <p:cNvSpPr txBox="1"/>
          <p:nvPr/>
        </p:nvSpPr>
        <p:spPr>
          <a:xfrm>
            <a:off x="61722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Reinicio</a:t>
            </a:r>
            <a:endParaRPr lang="en-US" sz="1800" dirty="0"/>
          </a:p>
        </p:txBody>
      </p:sp>
      <p:sp>
        <p:nvSpPr>
          <p:cNvPr id="15" name="Detalle 3"/>
          <p:cNvSpPr txBox="1"/>
          <p:nvPr/>
        </p:nvSpPr>
        <p:spPr>
          <a:xfrm>
            <a:off x="6172200" y="2880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La tecla Espacio ejecuta scene.restart().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Arquitectura del Código</a:t>
            </a:r>
            <a:endParaRPr lang="en-US" sz="3200" dirty="0"/>
          </a:p>
        </p:txBody>
      </p:sp>
      <p:sp>
        <p:nvSpPr>
          <p:cNvPr id="3" name="Fila 1"/>
          <p:cNvSpPr/>
          <p:nvPr/>
        </p:nvSpPr>
        <p:spPr>
          <a:xfrm>
            <a:off x="1371600" y="1463040"/>
            <a:ext cx="6400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4" name="Archivo 1"/>
          <p:cNvSpPr txBox="1"/>
          <p:nvPr/>
        </p:nvSpPr>
        <p:spPr>
          <a:xfrm>
            <a:off x="164592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5" name="Descripcion 1"/>
          <p:cNvSpPr txBox="1"/>
          <p:nvPr/>
        </p:nvSpPr>
        <p:spPr>
          <a:xfrm>
            <a:off x="352044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Carga Phaser 3.80.1 desde CDN y centra el lienzo.</a:t>
            </a:r>
            <a:endParaRPr lang="en-US" sz="1300" dirty="0"/>
          </a:p>
        </p:txBody>
      </p:sp>
      <p:sp>
        <p:nvSpPr>
          <p:cNvPr id="6" name="Fila 2"/>
          <p:cNvSpPr/>
          <p:nvPr/>
        </p:nvSpPr>
        <p:spPr>
          <a:xfrm>
            <a:off x="1371600" y="2194560"/>
            <a:ext cx="6400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7" name="Archivo 2"/>
          <p:cNvSpPr txBox="1"/>
          <p:nvPr/>
        </p:nvSpPr>
        <p:spPr>
          <a:xfrm>
            <a:off x="16459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game.js</a:t>
            </a:r>
            <a:endParaRPr lang="en-US" sz="1500" dirty="0"/>
          </a:p>
        </p:txBody>
      </p:sp>
      <p:sp>
        <p:nvSpPr>
          <p:cNvPr id="8" name="Descripcion 2"/>
          <p:cNvSpPr txBox="1"/>
          <p:nvPr/>
        </p:nvSpPr>
        <p:spPr>
          <a:xfrm>
            <a:off x="352044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Constantes, mapa de teclas y récord en localStorage.</a:t>
            </a:r>
            <a:endParaRPr lang="en-US" sz="1300" dirty="0"/>
          </a:p>
        </p:txBody>
      </p:sp>
      <p:sp>
        <p:nvSpPr>
          <p:cNvPr id="9" name="Fila 3"/>
          <p:cNvSpPr/>
          <p:nvPr/>
        </p:nvSpPr>
        <p:spPr>
          <a:xfrm>
            <a:off x="1371600" y="2926080"/>
            <a:ext cx="6400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0" name="Archivo 3"/>
          <p:cNvSpPr txBox="1"/>
          <p:nvPr/>
        </p:nvSpPr>
        <p:spPr>
          <a:xfrm>
            <a:off x="16459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SnakeScene</a:t>
            </a:r>
            <a:endParaRPr lang="en-US" sz="1500" dirty="0"/>
          </a:p>
        </p:txBody>
      </p:sp>
      <p:sp>
        <p:nvSpPr>
          <p:cNvPr id="11" name="Descripcion 3"/>
          <p:cNvSpPr txBox="1"/>
          <p:nvPr/>
        </p:nvSpPr>
        <p:spPr>
          <a:xfrm>
            <a:off x="352044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Escena única: create, update, step, draw y gameOver.</a:t>
            </a:r>
            <a:endParaRPr lang="en-US" sz="1300" dirty="0"/>
          </a:p>
        </p:txBody>
      </p:sp>
      <p:sp>
        <p:nvSpPr>
          <p:cNvPr id="12" name="Fila 4"/>
          <p:cNvSpPr/>
          <p:nvPr/>
        </p:nvSpPr>
        <p:spPr>
          <a:xfrm>
            <a:off x="1371600" y="3657600"/>
            <a:ext cx="6400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13" name="Archivo 4"/>
          <p:cNvSpPr txBox="1"/>
          <p:nvPr/>
        </p:nvSpPr>
        <p:spPr>
          <a:xfrm>
            <a:off x="16459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500" dirty="0"/>
          </a:p>
        </p:txBody>
      </p:sp>
      <p:sp>
        <p:nvSpPr>
          <p:cNvPr id="14" name="Descripcion 4"/>
          <p:cNvSpPr txBox="1"/>
          <p:nvPr/>
        </p:nvSpPr>
        <p:spPr>
          <a:xfrm>
            <a:off x="352044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Phaser.AUTO, 800 × 600 y una sola escena.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ke Phaser">
  <a:themeElements>
    <a:clrScheme name="Snake Phaser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6A34A"/>
      </a:accent1>
      <a:accent2>
        <a:srgbClr val="DCFCE7"/>
      </a:accent2>
      <a:accent3>
        <a:srgbClr val="64748B"/>
      </a:accent3>
      <a:accent4>
        <a:srgbClr val="475569"/>
      </a:accent4>
      <a:accent5>
        <a:srgbClr val="E2E8F0"/>
      </a:accent5>
      <a:accent6>
        <a:srgbClr val="1E2A3F"/>
      </a:accent6>
      <a:hlink>
        <a:srgbClr val="16A34A"/>
      </a:hlink>
      <a:folHlink>
        <a:srgbClr val="15803D"/>
      </a:folHlink>
    </a:clrScheme>
    <a:fontScheme name="Snake Phaser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 - Phaser 3</dc:title>
  <dc:subject>PptxGenJS Presentation</dc:subject>
  <dc:creator>Carol Abigail Velásquez Cando</dc:creator>
  <cp:lastModifiedBy>Carol Abigail Velásquez Cando</cp:lastModifiedBy>
  <cp:revision>1</cp:revision>
  <dcterms:created xsi:type="dcterms:W3CDTF">2026-10-29T23:39:22Z</dcterms:created>
  <dcterms:modified xsi:type="dcterms:W3CDTF">2026-10-29T23:39:22Z</dcterms:modified>
</cp:coreProperties>
</file>