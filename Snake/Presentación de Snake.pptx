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8a5ec402-20bb-4347-3fb9-c6501466db52}">
          <p14:sldIdLst>
            <p14:sldId id="256"/>
          </p14:sldIdLst>
        </p14:section>
        <p14:section name="Diseño del juego" id="{72dcfdef-32ac-bf65-558f-32dc5c7e185e}">
          <p14:sldIdLst>
            <p14:sldId id="257"/>
          </p14:sldIdLst>
        </p14:section>
        <p14:section name="Tecnología" id="{b79fe5a4-7007-4f4c-ad97-f9a3a21c2a7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ódigo" id="{f3289061-8e64-d131-f47f-a228e10e842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_IZQ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_CE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CENTRO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bg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LO_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o fondo"/>
          <p:cNvSpPr/>
          <p:nvPr/>
        </p:nvSpPr>
        <p:spPr>
          <a:xfrm>
            <a:off x="4206240" y="914400"/>
            <a:ext cx="731520" cy="731520"/>
          </a:xfrm>
          <a:prstGeom prst="roundRect">
            <a:avLst>
              <a:gd name="adj" fmla="val 22500"/>
            </a:avLst>
          </a:prstGeom>
          <a:solidFill>
            <a:schemeClr val="accent1"/>
          </a:solidFill>
          <a:ln/>
        </p:spPr>
      </p:sp>
      <p:pic>
        <p:nvPicPr>
          <p:cNvPr id="3" name="Icono serpiente" descr="Icono de serpi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051560"/>
            <a:ext cx="457200" cy="457200"/>
          </a:xfrm>
          <a:prstGeom prst="rect">
            <a:avLst/>
          </a:prstGeom>
        </p:spPr>
      </p:pic>
      <p:sp>
        <p:nvSpPr>
          <p:cNvPr id="4" name="Titulo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Snake</a:t>
            </a:r>
            <a:endParaRPr lang="en-US" sz="5800" dirty="0"/>
          </a:p>
        </p:txBody>
      </p:sp>
      <p:sp>
        <p:nvSpPr>
          <p:cNvPr id="5" name="Subtitulo"/>
          <p:cNvSpPr txBox="1"/>
          <p:nvPr/>
        </p:nvSpPr>
        <p:spPr>
          <a:xfrm>
            <a:off x="914400" y="2788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Serpiente con relieve, poderes y cinco escenarios en Phaser 3.</a:t>
            </a:r>
            <a:endParaRPr lang="en-US" sz="1800" dirty="0"/>
          </a:p>
        </p:txBody>
      </p:sp>
      <p:sp>
        <p:nvSpPr>
          <p:cNvPr id="6" name="URL fondo"/>
          <p:cNvSpPr/>
          <p:nvPr/>
        </p:nvSpPr>
        <p:spPr>
          <a:xfrm>
            <a:off x="2331720" y="3474720"/>
            <a:ext cx="4480560" cy="411480"/>
          </a:xfrm>
          <a:prstGeom prst="roundRect">
            <a:avLst>
              <a:gd name="adj" fmla="val 17778"/>
            </a:avLst>
          </a:prstGeom>
          <a:solidFill>
            <a:srgbClr val="1E2A3F"/>
          </a:solidFill>
          <a:ln/>
        </p:spPr>
      </p:sp>
      <p:sp>
        <p:nvSpPr>
          <p:cNvPr id="7" name="URL"/>
          <p:cNvSpPr txBox="1"/>
          <p:nvPr/>
        </p:nvSpPr>
        <p:spPr>
          <a:xfrm>
            <a:off x="2331720" y="34747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github.com/2026B-sof-jueg-gr1/...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Dinámica del Juego</a:t>
            </a:r>
            <a:endParaRPr lang="en-US" sz="3200" dirty="0"/>
          </a:p>
        </p:txBody>
      </p:sp>
      <p:sp>
        <p:nvSpPr>
          <p:cNvPr id="3" name="Tarjeta 1"/>
          <p:cNvSpPr/>
          <p:nvPr/>
        </p:nvSpPr>
        <p:spPr>
          <a:xfrm>
            <a:off x="548640" y="178308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pic>
        <p:nvPicPr>
          <p:cNvPr id="4" name="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347472" cy="347472"/>
          </a:xfrm>
          <a:prstGeom prst="rect">
            <a:avLst/>
          </a:prstGeom>
        </p:spPr>
      </p:pic>
      <p:sp>
        <p:nvSpPr>
          <p:cNvPr id="5" name="Titulo tarjeta 1"/>
          <p:cNvSpPr txBox="1"/>
          <p:nvPr/>
        </p:nvSpPr>
        <p:spPr>
          <a:xfrm>
            <a:off x="822960" y="25603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Comer y Crecer</a:t>
            </a:r>
            <a:endParaRPr lang="en-US" sz="1700" dirty="0"/>
          </a:p>
        </p:txBody>
      </p:sp>
      <p:sp>
        <p:nvSpPr>
          <p:cNvPr id="6" name="Texto tarjeta 1"/>
          <p:cNvSpPr txBox="1"/>
          <p:nvPr/>
        </p:nvSpPr>
        <p:spPr>
          <a:xfrm>
            <a:off x="822960" y="2971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Cada manzana suma 10 puntos, alarga la serpiente y la acelera.</a:t>
            </a:r>
            <a:endParaRPr lang="en-US" sz="1300" dirty="0"/>
          </a:p>
        </p:txBody>
      </p:sp>
      <p:sp>
        <p:nvSpPr>
          <p:cNvPr id="7" name="Tarjeta 2"/>
          <p:cNvSpPr/>
          <p:nvPr/>
        </p:nvSpPr>
        <p:spPr>
          <a:xfrm>
            <a:off x="3291840" y="178308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pic>
        <p:nvPicPr>
          <p:cNvPr id="8" name="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057400"/>
            <a:ext cx="347472" cy="347472"/>
          </a:xfrm>
          <a:prstGeom prst="rect">
            <a:avLst/>
          </a:prstGeom>
        </p:spPr>
      </p:pic>
      <p:sp>
        <p:nvSpPr>
          <p:cNvPr id="9" name="Titulo tarjeta 2"/>
          <p:cNvSpPr txBox="1"/>
          <p:nvPr/>
        </p:nvSpPr>
        <p:spPr>
          <a:xfrm>
            <a:off x="3566160" y="25603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Poderes</a:t>
            </a:r>
            <a:endParaRPr lang="en-US" sz="1700" dirty="0"/>
          </a:p>
        </p:txBody>
      </p:sp>
      <p:sp>
        <p:nvSpPr>
          <p:cNvPr id="10" name="Texto tarjeta 2"/>
          <p:cNvSpPr txBox="1"/>
          <p:nvPr/>
        </p:nvSpPr>
        <p:spPr>
          <a:xfrm>
            <a:off x="3566160" y="2971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Objetos que ralentizan, duplican puntos, protegen o cortan la cola.</a:t>
            </a:r>
            <a:endParaRPr lang="en-US" sz="1300" dirty="0"/>
          </a:p>
        </p:txBody>
      </p:sp>
      <p:sp>
        <p:nvSpPr>
          <p:cNvPr id="11" name="Tarjeta 3"/>
          <p:cNvSpPr/>
          <p:nvPr/>
        </p:nvSpPr>
        <p:spPr>
          <a:xfrm>
            <a:off x="6035040" y="178308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pic>
        <p:nvPicPr>
          <p:cNvPr id="12" name="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057400"/>
            <a:ext cx="347472" cy="347472"/>
          </a:xfrm>
          <a:prstGeom prst="rect">
            <a:avLst/>
          </a:prstGeom>
        </p:spPr>
      </p:pic>
      <p:sp>
        <p:nvSpPr>
          <p:cNvPr id="13" name="Titulo tarjeta 3"/>
          <p:cNvSpPr txBox="1"/>
          <p:nvPr/>
        </p:nvSpPr>
        <p:spPr>
          <a:xfrm>
            <a:off x="6309360" y="25603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Escenarios</a:t>
            </a:r>
            <a:endParaRPr lang="en-US" sz="1700" dirty="0"/>
          </a:p>
        </p:txBody>
      </p:sp>
      <p:sp>
        <p:nvSpPr>
          <p:cNvPr id="14" name="Texto tarjeta 3"/>
          <p:cNvSpPr txBox="1"/>
          <p:nvPr/>
        </p:nvSpPr>
        <p:spPr>
          <a:xfrm>
            <a:off x="6309360" y="2971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Cada 100 puntos el mundo cambia: bosque, desierto, nieve, volcán y noche.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Stack Tecnológico</a:t>
            </a:r>
            <a:endParaRPr lang="en-US" sz="3200" dirty="0"/>
          </a:p>
        </p:txBody>
      </p:sp>
      <p:sp>
        <p:nvSpPr>
          <p:cNvPr id="3" name="Fondo icono 1"/>
          <p:cNvSpPr/>
          <p:nvPr/>
        </p:nvSpPr>
        <p:spPr>
          <a:xfrm>
            <a:off x="548640" y="1691640"/>
            <a:ext cx="594360" cy="594360"/>
          </a:xfrm>
          <a:prstGeom prst="roundRect">
            <a:avLst>
              <a:gd name="adj" fmla="val 15385"/>
            </a:avLst>
          </a:prstGeom>
          <a:solidFill>
            <a:schemeClr val="accent2"/>
          </a:solidFill>
          <a:ln/>
        </p:spPr>
      </p:sp>
      <p:pic>
        <p:nvPicPr>
          <p:cNvPr id="4" name="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847088"/>
            <a:ext cx="283464" cy="283464"/>
          </a:xfrm>
          <a:prstGeom prst="rect">
            <a:avLst/>
          </a:prstGeom>
        </p:spPr>
      </p:pic>
      <p:sp>
        <p:nvSpPr>
          <p:cNvPr id="5" name="Nombre 1"/>
          <p:cNvSpPr txBox="1"/>
          <p:nvPr/>
        </p:nvSpPr>
        <p:spPr>
          <a:xfrm>
            <a:off x="1325880" y="165506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Phaser 3.80.1</a:t>
            </a:r>
            <a:endParaRPr lang="en-US" sz="1800" dirty="0"/>
          </a:p>
        </p:txBody>
      </p:sp>
      <p:sp>
        <p:nvSpPr>
          <p:cNvPr id="6" name="Descripcion 1"/>
          <p:cNvSpPr txBox="1"/>
          <p:nvPr/>
        </p:nvSpPr>
        <p:spPr>
          <a:xfrm>
            <a:off x="1325880" y="20208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Motor cargado desde CDN: escenas, gráficos, partículas y tweens.</a:t>
            </a:r>
            <a:endParaRPr lang="en-US" sz="1300" dirty="0"/>
          </a:p>
        </p:txBody>
      </p:sp>
      <p:sp>
        <p:nvSpPr>
          <p:cNvPr id="7" name="Fondo icono 2"/>
          <p:cNvSpPr/>
          <p:nvPr/>
        </p:nvSpPr>
        <p:spPr>
          <a:xfrm>
            <a:off x="4663440" y="1691640"/>
            <a:ext cx="594360" cy="594360"/>
          </a:xfrm>
          <a:prstGeom prst="roundRect">
            <a:avLst>
              <a:gd name="adj" fmla="val 15385"/>
            </a:avLst>
          </a:prstGeom>
          <a:solidFill>
            <a:schemeClr val="accent2"/>
          </a:solidFill>
          <a:ln/>
        </p:spPr>
      </p:sp>
      <p:pic>
        <p:nvPicPr>
          <p:cNvPr id="8" name="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1847088"/>
            <a:ext cx="283464" cy="283464"/>
          </a:xfrm>
          <a:prstGeom prst="rect">
            <a:avLst/>
          </a:prstGeom>
        </p:spPr>
      </p:pic>
      <p:sp>
        <p:nvSpPr>
          <p:cNvPr id="9" name="Nombre 2"/>
          <p:cNvSpPr txBox="1"/>
          <p:nvPr/>
        </p:nvSpPr>
        <p:spPr>
          <a:xfrm>
            <a:off x="5440680" y="165506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0" name="Descripcion 2"/>
          <p:cNvSpPr txBox="1"/>
          <p:nvPr/>
        </p:nvSpPr>
        <p:spPr>
          <a:xfrm>
            <a:off x="5440680" y="20208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Todo el juego en clases ES6, sin imágenes ni frameworks.</a:t>
            </a:r>
            <a:endParaRPr lang="en-US" sz="1300" dirty="0"/>
          </a:p>
        </p:txBody>
      </p:sp>
      <p:sp>
        <p:nvSpPr>
          <p:cNvPr id="11" name="Fondo icono 3"/>
          <p:cNvSpPr/>
          <p:nvPr/>
        </p:nvSpPr>
        <p:spPr>
          <a:xfrm>
            <a:off x="548640" y="3108960"/>
            <a:ext cx="594360" cy="594360"/>
          </a:xfrm>
          <a:prstGeom prst="roundRect">
            <a:avLst>
              <a:gd name="adj" fmla="val 15385"/>
            </a:avLst>
          </a:prstGeom>
          <a:solidFill>
            <a:schemeClr val="accent2"/>
          </a:solidFill>
          <a:ln/>
        </p:spPr>
      </p:sp>
      <p:pic>
        <p:nvPicPr>
          <p:cNvPr id="12" name="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264408"/>
            <a:ext cx="283464" cy="283464"/>
          </a:xfrm>
          <a:prstGeom prst="rect">
            <a:avLst/>
          </a:prstGeom>
        </p:spPr>
      </p:pic>
      <p:sp>
        <p:nvSpPr>
          <p:cNvPr id="13" name="Nombre 3"/>
          <p:cNvSpPr txBox="1"/>
          <p:nvPr/>
        </p:nvSpPr>
        <p:spPr>
          <a:xfrm>
            <a:off x="1325880" y="307238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WebAudio</a:t>
            </a:r>
            <a:endParaRPr lang="en-US" sz="1800" dirty="0"/>
          </a:p>
        </p:txBody>
      </p:sp>
      <p:sp>
        <p:nvSpPr>
          <p:cNvPr id="14" name="Descripcion 3"/>
          <p:cNvSpPr txBox="1"/>
          <p:nvPr/>
        </p:nvSpPr>
        <p:spPr>
          <a:xfrm>
            <a:off x="1325880" y="343814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Sonidos generados con osciladores, sin archivos de audio.</a:t>
            </a:r>
            <a:endParaRPr lang="en-US" sz="1300" dirty="0"/>
          </a:p>
        </p:txBody>
      </p:sp>
      <p:sp>
        <p:nvSpPr>
          <p:cNvPr id="15" name="Fondo icono 4"/>
          <p:cNvSpPr/>
          <p:nvPr/>
        </p:nvSpPr>
        <p:spPr>
          <a:xfrm>
            <a:off x="4663440" y="3108960"/>
            <a:ext cx="594360" cy="594360"/>
          </a:xfrm>
          <a:prstGeom prst="roundRect">
            <a:avLst>
              <a:gd name="adj" fmla="val 15385"/>
            </a:avLst>
          </a:prstGeom>
          <a:solidFill>
            <a:schemeClr val="accent2"/>
          </a:solidFill>
          <a:ln/>
        </p:spPr>
      </p:sp>
      <p:pic>
        <p:nvPicPr>
          <p:cNvPr id="16" name="Icon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3264408"/>
            <a:ext cx="283464" cy="283464"/>
          </a:xfrm>
          <a:prstGeom prst="rect">
            <a:avLst/>
          </a:prstGeom>
        </p:spPr>
      </p:pic>
      <p:sp>
        <p:nvSpPr>
          <p:cNvPr id="17" name="Nombre 4"/>
          <p:cNvSpPr txBox="1"/>
          <p:nvPr/>
        </p:nvSpPr>
        <p:spPr>
          <a:xfrm>
            <a:off x="5440680" y="307238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localStorage</a:t>
            </a:r>
            <a:endParaRPr lang="en-US" sz="1800" dirty="0"/>
          </a:p>
        </p:txBody>
      </p:sp>
      <p:sp>
        <p:nvSpPr>
          <p:cNvPr id="18" name="Descripcion 4"/>
          <p:cNvSpPr txBox="1"/>
          <p:nvPr/>
        </p:nvSpPr>
        <p:spPr>
          <a:xfrm>
            <a:off x="5440680" y="343814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Guarda el récord de puntos en el navegador.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Flujo del Juego</a:t>
            </a:r>
            <a:endParaRPr lang="en-US" sz="3200" dirty="0"/>
          </a:p>
        </p:txBody>
      </p:sp>
      <p:sp>
        <p:nvSpPr>
          <p:cNvPr id="3" name="Linea de flujo"/>
          <p:cNvSpPr/>
          <p:nvPr/>
        </p:nvSpPr>
        <p:spPr>
          <a:xfrm>
            <a:off x="1097280" y="2057400"/>
            <a:ext cx="6949440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4" name="Circulo 1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5" name="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929384"/>
            <a:ext cx="256032" cy="256032"/>
          </a:xfrm>
          <a:prstGeom prst="rect">
            <a:avLst/>
          </a:prstGeom>
        </p:spPr>
      </p:pic>
      <p:sp>
        <p:nvSpPr>
          <p:cNvPr id="6" name="Paso 1"/>
          <p:cNvSpPr txBox="1"/>
          <p:nvPr/>
        </p:nvSpPr>
        <p:spPr>
          <a:xfrm>
            <a:off x="32004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MenuScene</a:t>
            </a:r>
            <a:endParaRPr lang="en-US" sz="1500" dirty="0"/>
          </a:p>
        </p:txBody>
      </p:sp>
      <p:sp>
        <p:nvSpPr>
          <p:cNvPr id="7" name="Detalle 1"/>
          <p:cNvSpPr txBox="1"/>
          <p:nvPr/>
        </p:nvSpPr>
        <p:spPr>
          <a:xfrm>
            <a:off x="320040" y="28346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Título e instrucciones.</a:t>
            </a:r>
            <a:endParaRPr lang="en-US" sz="1200" dirty="0"/>
          </a:p>
        </p:txBody>
      </p:sp>
      <p:sp>
        <p:nvSpPr>
          <p:cNvPr id="8" name="Circulo 2"/>
          <p:cNvSpPr/>
          <p:nvPr/>
        </p:nvSpPr>
        <p:spPr>
          <a:xfrm>
            <a:off x="2560320" y="178308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9" name="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624" y="1929384"/>
            <a:ext cx="256032" cy="256032"/>
          </a:xfrm>
          <a:prstGeom prst="rect">
            <a:avLst/>
          </a:prstGeom>
        </p:spPr>
      </p:pic>
      <p:sp>
        <p:nvSpPr>
          <p:cNvPr id="10" name="Paso 2"/>
          <p:cNvSpPr txBox="1"/>
          <p:nvPr/>
        </p:nvSpPr>
        <p:spPr>
          <a:xfrm>
            <a:off x="205740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create()</a:t>
            </a:r>
            <a:endParaRPr lang="en-US" sz="1500" dirty="0"/>
          </a:p>
        </p:txBody>
      </p:sp>
      <p:sp>
        <p:nvSpPr>
          <p:cNvPr id="11" name="Detalle 2"/>
          <p:cNvSpPr txBox="1"/>
          <p:nvPr/>
        </p:nvSpPr>
        <p:spPr>
          <a:xfrm>
            <a:off x="2057400" y="28346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Prepara la partida.</a:t>
            </a:r>
            <a:endParaRPr lang="en-US" sz="1200" dirty="0"/>
          </a:p>
        </p:txBody>
      </p:sp>
      <p:sp>
        <p:nvSpPr>
          <p:cNvPr id="12" name="Circulo 3"/>
          <p:cNvSpPr/>
          <p:nvPr/>
        </p:nvSpPr>
        <p:spPr>
          <a:xfrm>
            <a:off x="4297680" y="178308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1929384"/>
            <a:ext cx="256032" cy="256032"/>
          </a:xfrm>
          <a:prstGeom prst="rect">
            <a:avLst/>
          </a:prstGeom>
        </p:spPr>
      </p:pic>
      <p:sp>
        <p:nvSpPr>
          <p:cNvPr id="14" name="Paso 3"/>
          <p:cNvSpPr txBox="1"/>
          <p:nvPr/>
        </p:nvSpPr>
        <p:spPr>
          <a:xfrm>
            <a:off x="379476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step()</a:t>
            </a:r>
            <a:endParaRPr lang="en-US" sz="1500" dirty="0"/>
          </a:p>
        </p:txBody>
      </p:sp>
      <p:sp>
        <p:nvSpPr>
          <p:cNvPr id="15" name="Detalle 3"/>
          <p:cNvSpPr txBox="1"/>
          <p:nvPr/>
        </p:nvSpPr>
        <p:spPr>
          <a:xfrm>
            <a:off x="3794760" y="28346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Avanza una celda.</a:t>
            </a:r>
            <a:endParaRPr lang="en-US" sz="1200" dirty="0"/>
          </a:p>
        </p:txBody>
      </p:sp>
      <p:sp>
        <p:nvSpPr>
          <p:cNvPr id="16" name="Circulo 4"/>
          <p:cNvSpPr/>
          <p:nvPr/>
        </p:nvSpPr>
        <p:spPr>
          <a:xfrm>
            <a:off x="6035040" y="178308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7" name="Icon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929384"/>
            <a:ext cx="256032" cy="256032"/>
          </a:xfrm>
          <a:prstGeom prst="rect">
            <a:avLst/>
          </a:prstGeom>
        </p:spPr>
      </p:pic>
      <p:sp>
        <p:nvSpPr>
          <p:cNvPr id="18" name="Paso 4"/>
          <p:cNvSpPr txBox="1"/>
          <p:nvPr/>
        </p:nvSpPr>
        <p:spPr>
          <a:xfrm>
            <a:off x="553212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Nivel</a:t>
            </a:r>
            <a:endParaRPr lang="en-US" sz="1500" dirty="0"/>
          </a:p>
        </p:txBody>
      </p:sp>
      <p:sp>
        <p:nvSpPr>
          <p:cNvPr id="19" name="Detalle 4"/>
          <p:cNvSpPr txBox="1"/>
          <p:nvPr/>
        </p:nvSpPr>
        <p:spPr>
          <a:xfrm>
            <a:off x="5532120" y="28346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Cambia el escenario.</a:t>
            </a:r>
            <a:endParaRPr lang="en-US" sz="1200" dirty="0"/>
          </a:p>
        </p:txBody>
      </p:sp>
      <p:sp>
        <p:nvSpPr>
          <p:cNvPr id="20" name="Circulo 5"/>
          <p:cNvSpPr/>
          <p:nvPr/>
        </p:nvSpPr>
        <p:spPr>
          <a:xfrm>
            <a:off x="777240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o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8704" y="1929384"/>
            <a:ext cx="256032" cy="256032"/>
          </a:xfrm>
          <a:prstGeom prst="rect">
            <a:avLst/>
          </a:prstGeom>
        </p:spPr>
      </p:pic>
      <p:sp>
        <p:nvSpPr>
          <p:cNvPr id="22" name="Paso 5"/>
          <p:cNvSpPr txBox="1"/>
          <p:nvPr/>
        </p:nvSpPr>
        <p:spPr>
          <a:xfrm>
            <a:off x="726948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gameOver()</a:t>
            </a:r>
            <a:endParaRPr lang="en-US" sz="1500" dirty="0"/>
          </a:p>
        </p:txBody>
      </p:sp>
      <p:sp>
        <p:nvSpPr>
          <p:cNvPr id="23" name="Detalle 5"/>
          <p:cNvSpPr txBox="1"/>
          <p:nvPr/>
        </p:nvSpPr>
        <p:spPr>
          <a:xfrm>
            <a:off x="7269480" y="28346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Reintentar o menú.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91440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Estructura del Tablero</a:t>
            </a:r>
            <a:endParaRPr lang="en-US" sz="3000" dirty="0"/>
          </a:p>
        </p:txBody>
      </p:sp>
      <p:pic>
        <p:nvPicPr>
          <p:cNvPr id="3" name="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237744" cy="237744"/>
          </a:xfrm>
          <a:prstGeom prst="rect">
            <a:avLst/>
          </a:prstGeom>
        </p:spPr>
      </p:pic>
      <p:sp>
        <p:nvSpPr>
          <p:cNvPr id="4" name="Punto 1"/>
          <p:cNvSpPr txBox="1"/>
          <p:nvPr/>
        </p:nvSpPr>
        <p:spPr>
          <a:xfrm>
            <a:off x="960120" y="18745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Lienzo de 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800 × 600 px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.</a:t>
            </a:r>
            <a:endParaRPr lang="en-US" sz="1500" dirty="0"/>
          </a:p>
        </p:txBody>
      </p:sp>
      <p:pic>
        <p:nvPicPr>
          <p:cNvPr id="5" name="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68880"/>
            <a:ext cx="237744" cy="237744"/>
          </a:xfrm>
          <a:prstGeom prst="rect">
            <a:avLst/>
          </a:prstGeom>
        </p:spPr>
      </p:pic>
      <p:sp>
        <p:nvSpPr>
          <p:cNvPr id="6" name="Punto 2"/>
          <p:cNvSpPr txBox="1"/>
          <p:nvPr/>
        </p:nvSpPr>
        <p:spPr>
          <a:xfrm>
            <a:off x="960120" y="24231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Celdas de 20 px: 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40 × 30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.</a:t>
            </a:r>
            <a:endParaRPr lang="en-US" sz="1500" dirty="0"/>
          </a:p>
        </p:txBody>
      </p:sp>
      <p:pic>
        <p:nvPicPr>
          <p:cNvPr id="7" name="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17520"/>
            <a:ext cx="237744" cy="237744"/>
          </a:xfrm>
          <a:prstGeom prst="rect">
            <a:avLst/>
          </a:prstGeom>
        </p:spPr>
      </p:pic>
      <p:sp>
        <p:nvSpPr>
          <p:cNvPr id="8" name="Punto 3"/>
          <p:cNvSpPr txBox="1"/>
          <p:nvPr/>
        </p:nvSpPr>
        <p:spPr>
          <a:xfrm>
            <a:off x="960120" y="29718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Comida en una 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celda libre al azar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.</a:t>
            </a:r>
            <a:endParaRPr lang="en-US" sz="1500" dirty="0"/>
          </a:p>
        </p:txBody>
      </p:sp>
      <p:pic>
        <p:nvPicPr>
          <p:cNvPr id="9" name="Icon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66160"/>
            <a:ext cx="237744" cy="237744"/>
          </a:xfrm>
          <a:prstGeom prst="rect">
            <a:avLst/>
          </a:prstGeom>
        </p:spPr>
      </p:pic>
      <p:sp>
        <p:nvSpPr>
          <p:cNvPr id="10" name="Punto 4"/>
          <p:cNvSpPr txBox="1"/>
          <p:nvPr/>
        </p:nvSpPr>
        <p:spPr>
          <a:xfrm>
            <a:off x="960120" y="35204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Fondo dibujado 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una sola vez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con generateTexture().</a:t>
            </a:r>
            <a:endParaRPr lang="en-US" sz="1500" dirty="0"/>
          </a:p>
        </p:txBody>
      </p:sp>
      <p:pic>
        <p:nvPicPr>
          <p:cNvPr id="11" name="Captura bosque" descr="Captura del juego en el escenario Bosqu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1051560"/>
            <a:ext cx="3566160" cy="2674620"/>
          </a:xfrm>
          <a:prstGeom prst="rect">
            <a:avLst/>
          </a:prstGeom>
        </p:spPr>
      </p:pic>
      <p:sp>
        <p:nvSpPr>
          <p:cNvPr id="12" name="Pie captura"/>
          <p:cNvSpPr txBox="1"/>
          <p:nvPr/>
        </p:nvSpPr>
        <p:spPr>
          <a:xfrm>
            <a:off x="5029200" y="3840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Captura real del juego (escenario Bosque)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Efecto de Relieve 3D</a:t>
            </a:r>
            <a:endParaRPr lang="en-US" sz="3200" dirty="0"/>
          </a:p>
        </p:txBody>
      </p:sp>
      <p:sp>
        <p:nvSpPr>
          <p:cNvPr id="3" name="Capa sombra"/>
          <p:cNvSpPr/>
          <p:nvPr/>
        </p:nvSpPr>
        <p:spPr>
          <a:xfrm>
            <a:off x="1325880" y="2011680"/>
            <a:ext cx="1828800" cy="1691640"/>
          </a:xfrm>
          <a:prstGeom prst="roundRect">
            <a:avLst>
              <a:gd name="adj" fmla="val 16216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4" name="Capa lado oscuro"/>
          <p:cNvSpPr/>
          <p:nvPr/>
        </p:nvSpPr>
        <p:spPr>
          <a:xfrm>
            <a:off x="1097280" y="169164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1E8449"/>
          </a:solidFill>
          <a:ln/>
        </p:spPr>
      </p:sp>
      <p:sp>
        <p:nvSpPr>
          <p:cNvPr id="5" name="Capa cara superior"/>
          <p:cNvSpPr/>
          <p:nvPr/>
        </p:nvSpPr>
        <p:spPr>
          <a:xfrm>
            <a:off x="1097280" y="1691640"/>
            <a:ext cx="1828800" cy="1463040"/>
          </a:xfrm>
          <a:prstGeom prst="roundRect">
            <a:avLst>
              <a:gd name="adj" fmla="val 18750"/>
            </a:avLst>
          </a:prstGeom>
          <a:solidFill>
            <a:srgbClr val="2ECC71"/>
          </a:solidFill>
          <a:ln/>
        </p:spPr>
      </p:sp>
      <p:sp>
        <p:nvSpPr>
          <p:cNvPr id="6" name="Capa brillo"/>
          <p:cNvSpPr/>
          <p:nvPr/>
        </p:nvSpPr>
        <p:spPr>
          <a:xfrm>
            <a:off x="1371600" y="1874520"/>
            <a:ext cx="1097280" cy="365760"/>
          </a:xfrm>
          <a:prstGeom prst="roundRect">
            <a:avLst>
              <a:gd name="adj" fmla="val 37500"/>
            </a:avLst>
          </a:prstGeom>
          <a:solidFill>
            <a:srgbClr val="A9F0C3"/>
          </a:solidFill>
          <a:ln/>
        </p:spPr>
      </p:sp>
      <p:sp>
        <p:nvSpPr>
          <p:cNvPr id="7" name="Num 1"/>
          <p:cNvSpPr/>
          <p:nvPr/>
        </p:nvSpPr>
        <p:spPr>
          <a:xfrm>
            <a:off x="4206240" y="14173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Num texto 1"/>
          <p:cNvSpPr txBox="1"/>
          <p:nvPr/>
        </p:nvSpPr>
        <p:spPr>
          <a:xfrm>
            <a:off x="42062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Capa titulo 1"/>
          <p:cNvSpPr txBox="1"/>
          <p:nvPr/>
        </p:nvSpPr>
        <p:spPr>
          <a:xfrm>
            <a:off x="475488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Sombra</a:t>
            </a:r>
            <a:endParaRPr lang="en-US" sz="1500" dirty="0"/>
          </a:p>
        </p:txBody>
      </p:sp>
      <p:sp>
        <p:nvSpPr>
          <p:cNvPr id="10" name="Capa texto 1"/>
          <p:cNvSpPr txBox="1"/>
          <p:nvPr/>
        </p:nvSpPr>
        <p:spPr>
          <a:xfrm>
            <a:off x="4754880" y="16459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Negro semitransparente, desplazado abajo a la derecha.</a:t>
            </a:r>
            <a:endParaRPr lang="en-US" sz="1200" dirty="0"/>
          </a:p>
        </p:txBody>
      </p:sp>
      <p:sp>
        <p:nvSpPr>
          <p:cNvPr id="11" name="Num 2"/>
          <p:cNvSpPr/>
          <p:nvPr/>
        </p:nvSpPr>
        <p:spPr>
          <a:xfrm>
            <a:off x="4206240" y="21031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Num texto 2"/>
          <p:cNvSpPr txBox="1"/>
          <p:nvPr/>
        </p:nvSpPr>
        <p:spPr>
          <a:xfrm>
            <a:off x="42062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Capa titulo 2"/>
          <p:cNvSpPr txBox="1"/>
          <p:nvPr/>
        </p:nvSpPr>
        <p:spPr>
          <a:xfrm>
            <a:off x="4754880" y="2057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Lado oscuro</a:t>
            </a:r>
            <a:endParaRPr lang="en-US" sz="1500" dirty="0"/>
          </a:p>
        </p:txBody>
      </p:sp>
      <p:sp>
        <p:nvSpPr>
          <p:cNvPr id="14" name="Capa texto 2"/>
          <p:cNvSpPr txBox="1"/>
          <p:nvPr/>
        </p:nvSpPr>
        <p:spPr>
          <a:xfrm>
            <a:off x="4754880" y="2331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El color base oscurecido un 40 % da el grosor del bloque.</a:t>
            </a:r>
            <a:endParaRPr lang="en-US" sz="1200" dirty="0"/>
          </a:p>
        </p:txBody>
      </p:sp>
      <p:sp>
        <p:nvSpPr>
          <p:cNvPr id="15" name="Num 3"/>
          <p:cNvSpPr/>
          <p:nvPr/>
        </p:nvSpPr>
        <p:spPr>
          <a:xfrm>
            <a:off x="4206240" y="27889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Num texto 3"/>
          <p:cNvSpPr txBox="1"/>
          <p:nvPr/>
        </p:nvSpPr>
        <p:spPr>
          <a:xfrm>
            <a:off x="420624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Capa titulo 3"/>
          <p:cNvSpPr txBox="1"/>
          <p:nvPr/>
        </p:nvSpPr>
        <p:spPr>
          <a:xfrm>
            <a:off x="4754880" y="2743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Cara superior</a:t>
            </a:r>
            <a:endParaRPr lang="en-US" sz="1500" dirty="0"/>
          </a:p>
        </p:txBody>
      </p:sp>
      <p:sp>
        <p:nvSpPr>
          <p:cNvPr id="18" name="Capa texto 3"/>
          <p:cNvSpPr txBox="1"/>
          <p:nvPr/>
        </p:nvSpPr>
        <p:spPr>
          <a:xfrm>
            <a:off x="4754880" y="3017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El color normal, encima del lado oscuro.</a:t>
            </a:r>
            <a:endParaRPr lang="en-US" sz="1200" dirty="0"/>
          </a:p>
        </p:txBody>
      </p:sp>
      <p:sp>
        <p:nvSpPr>
          <p:cNvPr id="19" name="Num 4"/>
          <p:cNvSpPr/>
          <p:nvPr/>
        </p:nvSpPr>
        <p:spPr>
          <a:xfrm>
            <a:off x="4206240" y="34747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Num texto 4"/>
          <p:cNvSpPr txBox="1"/>
          <p:nvPr/>
        </p:nvSpPr>
        <p:spPr>
          <a:xfrm>
            <a:off x="420624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Capa titulo 4"/>
          <p:cNvSpPr txBox="1"/>
          <p:nvPr/>
        </p:nvSpPr>
        <p:spPr>
          <a:xfrm>
            <a:off x="4754880" y="3429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Brillo</a:t>
            </a:r>
            <a:endParaRPr lang="en-US" sz="1500" dirty="0"/>
          </a:p>
        </p:txBody>
      </p:sp>
      <p:sp>
        <p:nvSpPr>
          <p:cNvPr id="22" name="Capa texto 4"/>
          <p:cNvSpPr txBox="1"/>
          <p:nvPr/>
        </p:nvSpPr>
        <p:spPr>
          <a:xfrm>
            <a:off x="4754880" y="3703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Franja clara arriba que simula la luz.</a:t>
            </a:r>
            <a:endParaRPr lang="en-US" sz="1200" dirty="0"/>
          </a:p>
        </p:txBody>
      </p:sp>
      <p:sp>
        <p:nvSpPr>
          <p:cNvPr id="23" name="Pie relieve"/>
          <p:cNvSpPr txBox="1"/>
          <p:nvPr/>
        </p:nvSpPr>
        <p:spPr>
          <a:xfrm>
            <a:off x="548640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drawSegment(): cuatro capas por bloque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Cinco Escenarios</a:t>
            </a:r>
            <a:endParaRPr lang="en-US" sz="3200" dirty="0"/>
          </a:p>
        </p:txBody>
      </p:sp>
      <p:pic>
        <p:nvPicPr>
          <p:cNvPr id="3" name="Captura Bosque" descr="Escenario Bos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1554480" cy="1165860"/>
          </a:xfrm>
          <a:prstGeom prst="rect">
            <a:avLst/>
          </a:prstGeom>
        </p:spPr>
      </p:pic>
      <p:sp>
        <p:nvSpPr>
          <p:cNvPr id="4" name="Nombre 1"/>
          <p:cNvSpPr txBox="1"/>
          <p:nvPr/>
        </p:nvSpPr>
        <p:spPr>
          <a:xfrm>
            <a:off x="548640" y="26974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1. Bosque</a:t>
            </a:r>
            <a:endParaRPr lang="en-US" sz="1400" dirty="0"/>
          </a:p>
        </p:txBody>
      </p:sp>
      <p:sp>
        <p:nvSpPr>
          <p:cNvPr id="5" name="Ambiente 1"/>
          <p:cNvSpPr txBox="1"/>
          <p:nvPr/>
        </p:nvSpPr>
        <p:spPr>
          <a:xfrm>
            <a:off x="548640" y="29718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Hojas que caen</a:t>
            </a:r>
            <a:endParaRPr lang="en-US" sz="1100" dirty="0"/>
          </a:p>
        </p:txBody>
      </p:sp>
      <p:pic>
        <p:nvPicPr>
          <p:cNvPr id="6" name="Captura Desierto" descr="Escenario Desier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7128" y="1463040"/>
            <a:ext cx="1554480" cy="1165860"/>
          </a:xfrm>
          <a:prstGeom prst="rect">
            <a:avLst/>
          </a:prstGeom>
        </p:spPr>
      </p:pic>
      <p:sp>
        <p:nvSpPr>
          <p:cNvPr id="7" name="Nombre 2"/>
          <p:cNvSpPr txBox="1"/>
          <p:nvPr/>
        </p:nvSpPr>
        <p:spPr>
          <a:xfrm>
            <a:off x="2167128" y="26974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 Desierto</a:t>
            </a:r>
            <a:endParaRPr lang="en-US" sz="1400" dirty="0"/>
          </a:p>
        </p:txBody>
      </p:sp>
      <p:sp>
        <p:nvSpPr>
          <p:cNvPr id="8" name="Ambiente 2"/>
          <p:cNvSpPr txBox="1"/>
          <p:nvPr/>
        </p:nvSpPr>
        <p:spPr>
          <a:xfrm>
            <a:off x="2167128" y="29718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Arena con viento</a:t>
            </a:r>
            <a:endParaRPr lang="en-US" sz="1100" dirty="0"/>
          </a:p>
        </p:txBody>
      </p:sp>
      <p:pic>
        <p:nvPicPr>
          <p:cNvPr id="9" name="Captura Nieve" descr="Escenario Nie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16" y="1463040"/>
            <a:ext cx="1554480" cy="1165860"/>
          </a:xfrm>
          <a:prstGeom prst="rect">
            <a:avLst/>
          </a:prstGeom>
        </p:spPr>
      </p:pic>
      <p:sp>
        <p:nvSpPr>
          <p:cNvPr id="10" name="Nombre 3"/>
          <p:cNvSpPr txBox="1"/>
          <p:nvPr/>
        </p:nvSpPr>
        <p:spPr>
          <a:xfrm>
            <a:off x="3785616" y="26974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3. Nieve</a:t>
            </a:r>
            <a:endParaRPr lang="en-US" sz="1400" dirty="0"/>
          </a:p>
        </p:txBody>
      </p:sp>
      <p:sp>
        <p:nvSpPr>
          <p:cNvPr id="11" name="Ambiente 3"/>
          <p:cNvSpPr txBox="1"/>
          <p:nvPr/>
        </p:nvSpPr>
        <p:spPr>
          <a:xfrm>
            <a:off x="3785616" y="29718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Copos de nieve</a:t>
            </a:r>
            <a:endParaRPr lang="en-US" sz="1100" dirty="0"/>
          </a:p>
        </p:txBody>
      </p:sp>
      <p:pic>
        <p:nvPicPr>
          <p:cNvPr id="12" name="Captura Volcán" descr="Escenario Volcá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463040"/>
            <a:ext cx="1554480" cy="1165860"/>
          </a:xfrm>
          <a:prstGeom prst="rect">
            <a:avLst/>
          </a:prstGeom>
        </p:spPr>
      </p:pic>
      <p:sp>
        <p:nvSpPr>
          <p:cNvPr id="13" name="Nombre 4"/>
          <p:cNvSpPr txBox="1"/>
          <p:nvPr/>
        </p:nvSpPr>
        <p:spPr>
          <a:xfrm>
            <a:off x="5404104" y="26974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 Volcán</a:t>
            </a:r>
            <a:endParaRPr lang="en-US" sz="1400" dirty="0"/>
          </a:p>
        </p:txBody>
      </p:sp>
      <p:sp>
        <p:nvSpPr>
          <p:cNvPr id="14" name="Ambiente 4"/>
          <p:cNvSpPr txBox="1"/>
          <p:nvPr/>
        </p:nvSpPr>
        <p:spPr>
          <a:xfrm>
            <a:off x="5404104" y="29718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Brasas que suben</a:t>
            </a:r>
            <a:endParaRPr lang="en-US" sz="1100" dirty="0"/>
          </a:p>
        </p:txBody>
      </p:sp>
      <p:pic>
        <p:nvPicPr>
          <p:cNvPr id="15" name="Captura Noche" descr="Escenario Noch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2" y="1463040"/>
            <a:ext cx="1554480" cy="1165860"/>
          </a:xfrm>
          <a:prstGeom prst="rect">
            <a:avLst/>
          </a:prstGeom>
        </p:spPr>
      </p:pic>
      <p:sp>
        <p:nvSpPr>
          <p:cNvPr id="16" name="Nombre 5"/>
          <p:cNvSpPr txBox="1"/>
          <p:nvPr/>
        </p:nvSpPr>
        <p:spPr>
          <a:xfrm>
            <a:off x="7022592" y="26974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5. Noche</a:t>
            </a:r>
            <a:endParaRPr lang="en-US" sz="1400" dirty="0"/>
          </a:p>
        </p:txBody>
      </p:sp>
      <p:sp>
        <p:nvSpPr>
          <p:cNvPr id="17" name="Ambiente 5"/>
          <p:cNvSpPr txBox="1"/>
          <p:nvPr/>
        </p:nvSpPr>
        <p:spPr>
          <a:xfrm>
            <a:off x="7022592" y="29718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Luciérnagas</a:t>
            </a:r>
            <a:endParaRPr lang="en-US" sz="1100" dirty="0"/>
          </a:p>
        </p:txBody>
      </p:sp>
      <p:sp>
        <p:nvSpPr>
          <p:cNvPr id="18" name="Nota fondo"/>
          <p:cNvSpPr/>
          <p:nvPr/>
        </p:nvSpPr>
        <p:spPr>
          <a:xfrm>
            <a:off x="1188720" y="3566160"/>
            <a:ext cx="676656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19" name="Nota"/>
          <p:cNvSpPr txBox="1"/>
          <p:nvPr/>
        </p:nvSpPr>
        <p:spPr>
          <a:xfrm>
            <a:off x="1188720" y="35661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Cada 100 puntos: </a:t>
            </a:r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fundido de 1 s, aviso «Nivel N · Escenario» y nuevas partículas.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Poderes</a:t>
            </a:r>
            <a:endParaRPr lang="en-US" sz="3200" dirty="0"/>
          </a:p>
        </p:txBody>
      </p:sp>
      <p:sp>
        <p:nvSpPr>
          <p:cNvPr id="3" name="Orbe 1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rgbClr val="0984E3"/>
          </a:solidFill>
          <a:ln/>
        </p:spPr>
      </p:sp>
      <p:pic>
        <p:nvPicPr>
          <p:cNvPr id="4" name="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627632"/>
            <a:ext cx="310896" cy="310896"/>
          </a:xfrm>
          <a:prstGeom prst="rect">
            <a:avLst/>
          </a:prstGeom>
        </p:spPr>
      </p:pic>
      <p:sp>
        <p:nvSpPr>
          <p:cNvPr id="5" name="Poder 1"/>
          <p:cNvSpPr txBox="1"/>
          <p:nvPr/>
        </p:nvSpPr>
        <p:spPr>
          <a:xfrm>
            <a:off x="1371600" y="14630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Lento</a:t>
            </a:r>
            <a:endParaRPr lang="en-US" sz="1700" dirty="0"/>
          </a:p>
        </p:txBody>
      </p:sp>
      <p:sp>
        <p:nvSpPr>
          <p:cNvPr id="6" name="Poder texto 1"/>
          <p:cNvSpPr txBox="1"/>
          <p:nvPr/>
        </p:nvSpPr>
        <p:spPr>
          <a:xfrm>
            <a:off x="1371600" y="179222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La serpiente va 1.6 veces más lenta durante 6 s.</a:t>
            </a:r>
            <a:endParaRPr lang="en-US" sz="1300" dirty="0"/>
          </a:p>
        </p:txBody>
      </p:sp>
      <p:sp>
        <p:nvSpPr>
          <p:cNvPr id="7" name="Orbe 2"/>
          <p:cNvSpPr/>
          <p:nvPr/>
        </p:nvSpPr>
        <p:spPr>
          <a:xfrm>
            <a:off x="4663440" y="1463040"/>
            <a:ext cx="640080" cy="640080"/>
          </a:xfrm>
          <a:prstGeom prst="ellipse">
            <a:avLst/>
          </a:prstGeom>
          <a:solidFill>
            <a:srgbClr val="8E44AD"/>
          </a:solidFill>
          <a:ln/>
        </p:spPr>
      </p:sp>
      <p:sp>
        <p:nvSpPr>
          <p:cNvPr id="8" name="Icono 2"/>
          <p:cNvSpPr txBox="1"/>
          <p:nvPr/>
        </p:nvSpPr>
        <p:spPr>
          <a:xfrm>
            <a:off x="46634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x2</a:t>
            </a:r>
            <a:endParaRPr lang="en-US" sz="1800" dirty="0"/>
          </a:p>
        </p:txBody>
      </p:sp>
      <p:sp>
        <p:nvSpPr>
          <p:cNvPr id="9" name="Poder 2"/>
          <p:cNvSpPr txBox="1"/>
          <p:nvPr/>
        </p:nvSpPr>
        <p:spPr>
          <a:xfrm>
            <a:off x="5486400" y="14630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Puntos Dobles</a:t>
            </a:r>
            <a:endParaRPr lang="en-US" sz="1700" dirty="0"/>
          </a:p>
        </p:txBody>
      </p:sp>
      <p:sp>
        <p:nvSpPr>
          <p:cNvPr id="10" name="Poder texto 2"/>
          <p:cNvSpPr txBox="1"/>
          <p:nvPr/>
        </p:nvSpPr>
        <p:spPr>
          <a:xfrm>
            <a:off x="5486400" y="179222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Todo lo que comes vale el doble durante 10 s.</a:t>
            </a:r>
            <a:endParaRPr lang="en-US" sz="1300" dirty="0"/>
          </a:p>
        </p:txBody>
      </p:sp>
      <p:sp>
        <p:nvSpPr>
          <p:cNvPr id="11" name="Orbe 3"/>
          <p:cNvSpPr/>
          <p:nvPr/>
        </p:nvSpPr>
        <p:spPr>
          <a:xfrm>
            <a:off x="548640" y="2651760"/>
            <a:ext cx="640080" cy="640080"/>
          </a:xfrm>
          <a:prstGeom prst="ellipse">
            <a:avLst/>
          </a:prstGeom>
          <a:solidFill>
            <a:srgbClr val="00B894"/>
          </a:solidFill>
          <a:ln/>
        </p:spPr>
      </p:sp>
      <p:pic>
        <p:nvPicPr>
          <p:cNvPr id="12" name="Icono 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16352"/>
            <a:ext cx="310896" cy="310896"/>
          </a:xfrm>
          <a:prstGeom prst="rect">
            <a:avLst/>
          </a:prstGeom>
        </p:spPr>
      </p:pic>
      <p:sp>
        <p:nvSpPr>
          <p:cNvPr id="13" name="Poder 3"/>
          <p:cNvSpPr txBox="1"/>
          <p:nvPr/>
        </p:nvSpPr>
        <p:spPr>
          <a:xfrm>
            <a:off x="1371600" y="26517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Escudo</a:t>
            </a:r>
            <a:endParaRPr lang="en-US" sz="1700" dirty="0"/>
          </a:p>
        </p:txBody>
      </p:sp>
      <p:sp>
        <p:nvSpPr>
          <p:cNvPr id="14" name="Poder texto 3"/>
          <p:cNvSpPr txBox="1"/>
          <p:nvPr/>
        </p:nvSpPr>
        <p:spPr>
          <a:xfrm>
            <a:off x="1371600" y="298094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Te salva de un choque: atraviesas la pared o tu cuerpo.</a:t>
            </a:r>
            <a:endParaRPr lang="en-US" sz="1300" dirty="0"/>
          </a:p>
        </p:txBody>
      </p:sp>
      <p:sp>
        <p:nvSpPr>
          <p:cNvPr id="15" name="Orbe 4"/>
          <p:cNvSpPr/>
          <p:nvPr/>
        </p:nvSpPr>
        <p:spPr>
          <a:xfrm>
            <a:off x="4663440" y="2651760"/>
            <a:ext cx="640080" cy="640080"/>
          </a:xfrm>
          <a:prstGeom prst="ellipse">
            <a:avLst/>
          </a:prstGeom>
          <a:solidFill>
            <a:srgbClr val="E17055"/>
          </a:solidFill>
          <a:ln/>
        </p:spPr>
      </p:sp>
      <p:pic>
        <p:nvPicPr>
          <p:cNvPr id="16" name="Icono 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2816352"/>
            <a:ext cx="310896" cy="310896"/>
          </a:xfrm>
          <a:prstGeom prst="rect">
            <a:avLst/>
          </a:prstGeom>
        </p:spPr>
      </p:pic>
      <p:sp>
        <p:nvSpPr>
          <p:cNvPr id="17" name="Poder 4"/>
          <p:cNvSpPr txBox="1"/>
          <p:nvPr/>
        </p:nvSpPr>
        <p:spPr>
          <a:xfrm>
            <a:off x="5486400" y="26517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Tijeras</a:t>
            </a:r>
            <a:endParaRPr lang="en-US" sz="1700" dirty="0"/>
          </a:p>
        </p:txBody>
      </p:sp>
      <p:sp>
        <p:nvSpPr>
          <p:cNvPr id="18" name="Poder texto 4"/>
          <p:cNvSpPr txBox="1"/>
          <p:nvPr/>
        </p:nvSpPr>
        <p:spPr>
          <a:xfrm>
            <a:off x="5486400" y="298094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Cortan el 40 % de la cola (desde 8 segmentos).</a:t>
            </a:r>
            <a:endParaRPr lang="en-US" sz="1300" dirty="0"/>
          </a:p>
        </p:txBody>
      </p:sp>
      <p:sp>
        <p:nvSpPr>
          <p:cNvPr id="19" name="Nota poderes"/>
          <p:cNvSpPr txBox="1"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Aparecen cada 6 a 10 s, duran 7 s en el tablero y los efectos activos se muestran abajo a la izquierda.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Bucle de Tiempo Fijo</a:t>
            </a:r>
            <a:endParaRPr lang="en-US" sz="3200" dirty="0"/>
          </a:p>
        </p:txBody>
      </p:sp>
      <p:sp>
        <p:nvSpPr>
          <p:cNvPr id="3" name="Tarjeta 1"/>
          <p:cNvSpPr/>
          <p:nvPr/>
        </p:nvSpPr>
        <p:spPr>
          <a:xfrm>
            <a:off x="914400" y="1691640"/>
            <a:ext cx="228600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pic>
        <p:nvPicPr>
          <p:cNvPr id="4" name="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6232" y="1965960"/>
            <a:ext cx="402336" cy="402336"/>
          </a:xfrm>
          <a:prstGeom prst="rect">
            <a:avLst/>
          </a:prstGeom>
        </p:spPr>
      </p:pic>
      <p:sp>
        <p:nvSpPr>
          <p:cNvPr id="5" name="Titulo tarjeta 1"/>
          <p:cNvSpPr txBox="1"/>
          <p:nvPr/>
        </p:nvSpPr>
        <p:spPr>
          <a:xfrm>
            <a:off x="1051560" y="2560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update(delta)</a:t>
            </a:r>
            <a:endParaRPr lang="en-US" sz="1600" dirty="0"/>
          </a:p>
        </p:txBody>
      </p:sp>
      <p:sp>
        <p:nvSpPr>
          <p:cNvPr id="6" name="Texto tarjeta 1"/>
          <p:cNvSpPr txBox="1"/>
          <p:nvPr/>
        </p:nvSpPr>
        <p:spPr>
          <a:xfrm>
            <a:off x="1097280" y="29718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Acumula el tiempo y ejecuta un paso cada vez que se cumple el intervalo.</a:t>
            </a:r>
            <a:endParaRPr lang="en-US" sz="1200" dirty="0"/>
          </a:p>
        </p:txBody>
      </p:sp>
      <p:sp>
        <p:nvSpPr>
          <p:cNvPr id="7" name="Tarjeta 2"/>
          <p:cNvSpPr/>
          <p:nvPr/>
        </p:nvSpPr>
        <p:spPr>
          <a:xfrm>
            <a:off x="3429000" y="1691640"/>
            <a:ext cx="228600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pic>
        <p:nvPicPr>
          <p:cNvPr id="8" name="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1965960"/>
            <a:ext cx="402336" cy="402336"/>
          </a:xfrm>
          <a:prstGeom prst="rect">
            <a:avLst/>
          </a:prstGeom>
        </p:spPr>
      </p:pic>
      <p:sp>
        <p:nvSpPr>
          <p:cNvPr id="9" name="Titulo tarjeta 2"/>
          <p:cNvSpPr txBox="1"/>
          <p:nvPr/>
        </p:nvSpPr>
        <p:spPr>
          <a:xfrm>
            <a:off x="3566160" y="2560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Velocidad Progresiva</a:t>
            </a:r>
            <a:endParaRPr lang="en-US" sz="1600" dirty="0"/>
          </a:p>
        </p:txBody>
      </p:sp>
      <p:sp>
        <p:nvSpPr>
          <p:cNvPr id="10" name="Texto tarjeta 2"/>
          <p:cNvSpPr txBox="1"/>
          <p:nvPr/>
        </p:nvSpPr>
        <p:spPr>
          <a:xfrm>
            <a:off x="3611880" y="29718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Empieza en 120 ms por paso y baja 3 ms por manzana, hasta 60 ms.</a:t>
            </a:r>
            <a:endParaRPr lang="en-US" sz="1200" dirty="0"/>
          </a:p>
        </p:txBody>
      </p:sp>
      <p:sp>
        <p:nvSpPr>
          <p:cNvPr id="11" name="Tarjeta 3"/>
          <p:cNvSpPr/>
          <p:nvPr/>
        </p:nvSpPr>
        <p:spPr>
          <a:xfrm>
            <a:off x="5943600" y="1691640"/>
            <a:ext cx="228600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pic>
        <p:nvPicPr>
          <p:cNvPr id="12" name="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965960"/>
            <a:ext cx="402336" cy="402336"/>
          </a:xfrm>
          <a:prstGeom prst="rect">
            <a:avLst/>
          </a:prstGeom>
        </p:spPr>
      </p:pic>
      <p:sp>
        <p:nvSpPr>
          <p:cNvPr id="13" name="Titulo tarjeta 3"/>
          <p:cNvSpPr txBox="1"/>
          <p:nvPr/>
        </p:nvSpPr>
        <p:spPr>
          <a:xfrm>
            <a:off x="6080760" y="2560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stepDelay × 1.6</a:t>
            </a:r>
            <a:endParaRPr lang="en-US" sz="1600" dirty="0"/>
          </a:p>
        </p:txBody>
      </p:sp>
      <p:sp>
        <p:nvSpPr>
          <p:cNvPr id="14" name="Texto tarjeta 3"/>
          <p:cNvSpPr txBox="1"/>
          <p:nvPr/>
        </p:nvSpPr>
        <p:spPr>
          <a:xfrm>
            <a:off x="6126480" y="29718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Con el poder Lento, cada paso tarda 1.6 veces más.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Controles y Menú</a:t>
            </a:r>
            <a:endParaRPr lang="en-US" sz="3200" dirty="0"/>
          </a:p>
        </p:txBody>
      </p:sp>
      <p:pic>
        <p:nvPicPr>
          <p:cNvPr id="3" name="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9032"/>
            <a:ext cx="256032" cy="256032"/>
          </a:xfrm>
          <a:prstGeom prst="rect">
            <a:avLst/>
          </a:prstGeom>
        </p:spPr>
      </p:pic>
      <p:sp>
        <p:nvSpPr>
          <p:cNvPr id="4" name="Titulo 1"/>
          <p:cNvSpPr txBox="1"/>
          <p:nvPr/>
        </p:nvSpPr>
        <p:spPr>
          <a:xfrm>
            <a:off x="9601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Flechas, WASD o deslizar</a:t>
            </a:r>
            <a:endParaRPr lang="en-US" sz="1500" dirty="0"/>
          </a:p>
        </p:txBody>
      </p:sp>
      <p:sp>
        <p:nvSpPr>
          <p:cNvPr id="5" name="Texto 1"/>
          <p:cNvSpPr txBox="1"/>
          <p:nvPr/>
        </p:nvSpPr>
        <p:spPr>
          <a:xfrm>
            <a:off x="960120" y="16733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Teclado en PC y gesto de deslizar en celular.</a:t>
            </a:r>
            <a:endParaRPr lang="en-US" sz="1200" dirty="0"/>
          </a:p>
        </p:txBody>
      </p:sp>
      <p:pic>
        <p:nvPicPr>
          <p:cNvPr id="6" name="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84832"/>
            <a:ext cx="256032" cy="256032"/>
          </a:xfrm>
          <a:prstGeom prst="rect">
            <a:avLst/>
          </a:prstGeom>
        </p:spPr>
      </p:pic>
      <p:sp>
        <p:nvSpPr>
          <p:cNvPr id="7" name="Titulo 2"/>
          <p:cNvSpPr txBox="1"/>
          <p:nvPr/>
        </p:nvSpPr>
        <p:spPr>
          <a:xfrm>
            <a:off x="960120" y="20574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Cola de giros</a:t>
            </a:r>
            <a:endParaRPr lang="en-US" sz="1500" dirty="0"/>
          </a:p>
        </p:txBody>
      </p:sp>
      <p:sp>
        <p:nvSpPr>
          <p:cNvPr id="8" name="Texto 2"/>
          <p:cNvSpPr txBox="1"/>
          <p:nvPr/>
        </p:nvSpPr>
        <p:spPr>
          <a:xfrm>
            <a:off x="960120" y="23591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Guarda hasta 2 giros para pulsaciones rápidas.</a:t>
            </a:r>
            <a:endParaRPr lang="en-US" sz="1200" dirty="0"/>
          </a:p>
        </p:txBody>
      </p:sp>
      <p:pic>
        <p:nvPicPr>
          <p:cNvPr id="9" name="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70632"/>
            <a:ext cx="256032" cy="256032"/>
          </a:xfrm>
          <a:prstGeom prst="rect">
            <a:avLst/>
          </a:prstGeom>
        </p:spPr>
      </p:pic>
      <p:sp>
        <p:nvSpPr>
          <p:cNvPr id="10" name="Titulo 3"/>
          <p:cNvSpPr txBox="1"/>
          <p:nvPr/>
        </p:nvSpPr>
        <p:spPr>
          <a:xfrm>
            <a:off x="960120" y="27432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Sin media vuelta</a:t>
            </a:r>
            <a:endParaRPr lang="en-US" sz="1500" dirty="0"/>
          </a:p>
        </p:txBody>
      </p:sp>
      <p:sp>
        <p:nvSpPr>
          <p:cNvPr id="11" name="Texto 3"/>
          <p:cNvSpPr txBox="1"/>
          <p:nvPr/>
        </p:nvSpPr>
        <p:spPr>
          <a:xfrm>
            <a:off x="960120" y="30449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Se ignora la dirección opuesta.</a:t>
            </a:r>
            <a:endParaRPr lang="en-US" sz="1200" dirty="0"/>
          </a:p>
        </p:txBody>
      </p:sp>
      <p:pic>
        <p:nvPicPr>
          <p:cNvPr id="12" name="Icon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56432"/>
            <a:ext cx="256032" cy="256032"/>
          </a:xfrm>
          <a:prstGeom prst="rect">
            <a:avLst/>
          </a:prstGeom>
        </p:spPr>
      </p:pic>
      <p:sp>
        <p:nvSpPr>
          <p:cNvPr id="13" name="Titulo 4"/>
          <p:cNvSpPr txBox="1"/>
          <p:nvPr/>
        </p:nvSpPr>
        <p:spPr>
          <a:xfrm>
            <a:off x="960120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Pausa con P o Esc</a:t>
            </a:r>
            <a:endParaRPr lang="en-US" sz="1500" dirty="0"/>
          </a:p>
        </p:txBody>
      </p:sp>
      <p:sp>
        <p:nvSpPr>
          <p:cNvPr id="14" name="Texto 4"/>
          <p:cNvSpPr txBox="1"/>
          <p:nvPr/>
        </p:nvSpPr>
        <p:spPr>
          <a:xfrm>
            <a:off x="960120" y="37307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Congela el tiempo, los poderes y las animaciones.</a:t>
            </a:r>
            <a:endParaRPr lang="en-US" sz="1200" dirty="0"/>
          </a:p>
        </p:txBody>
      </p:sp>
      <p:pic>
        <p:nvPicPr>
          <p:cNvPr id="15" name="Captura menu" descr="Captura del menú de inici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325880"/>
            <a:ext cx="3657600" cy="2743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Efectos y Pulido</a:t>
            </a:r>
            <a:endParaRPr lang="en-US" sz="3200" dirty="0"/>
          </a:p>
        </p:txBody>
      </p:sp>
      <p:sp>
        <p:nvSpPr>
          <p:cNvPr id="3" name="Tarjeta 1"/>
          <p:cNvSpPr/>
          <p:nvPr/>
        </p:nvSpPr>
        <p:spPr>
          <a:xfrm>
            <a:off x="548640" y="1600200"/>
            <a:ext cx="1874520" cy="228600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4" name="Circulo 1"/>
          <p:cNvSpPr/>
          <p:nvPr/>
        </p:nvSpPr>
        <p:spPr>
          <a:xfrm>
            <a:off x="1188720" y="18288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9596" y="1979676"/>
            <a:ext cx="292608" cy="292608"/>
          </a:xfrm>
          <a:prstGeom prst="rect">
            <a:avLst/>
          </a:prstGeom>
        </p:spPr>
      </p:pic>
      <p:sp>
        <p:nvSpPr>
          <p:cNvPr id="6" name="Titulo 1"/>
          <p:cNvSpPr txBox="1"/>
          <p:nvPr/>
        </p:nvSpPr>
        <p:spPr>
          <a:xfrm>
            <a:off x="640080" y="2606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Partículas</a:t>
            </a:r>
            <a:endParaRPr lang="en-US" sz="1500" dirty="0"/>
          </a:p>
        </p:txBody>
      </p:sp>
      <p:sp>
        <p:nvSpPr>
          <p:cNvPr id="7" name="Texto 1"/>
          <p:cNvSpPr txBox="1"/>
          <p:nvPr/>
        </p:nvSpPr>
        <p:spPr>
          <a:xfrm>
            <a:off x="685800" y="29718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explode() al comer, y hojas, nieve o brasas de ambiente.</a:t>
            </a:r>
            <a:endParaRPr lang="en-US" sz="1200" dirty="0"/>
          </a:p>
        </p:txBody>
      </p:sp>
      <p:sp>
        <p:nvSpPr>
          <p:cNvPr id="8" name="Tarjeta 2"/>
          <p:cNvSpPr/>
          <p:nvPr/>
        </p:nvSpPr>
        <p:spPr>
          <a:xfrm>
            <a:off x="2606040" y="1600200"/>
            <a:ext cx="1874520" cy="228600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9" name="Circulo 2"/>
          <p:cNvSpPr/>
          <p:nvPr/>
        </p:nvSpPr>
        <p:spPr>
          <a:xfrm>
            <a:off x="3246120" y="18288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6996" y="1979676"/>
            <a:ext cx="292608" cy="292608"/>
          </a:xfrm>
          <a:prstGeom prst="rect">
            <a:avLst/>
          </a:prstGeom>
        </p:spPr>
      </p:pic>
      <p:sp>
        <p:nvSpPr>
          <p:cNvPr id="11" name="Titulo 2"/>
          <p:cNvSpPr txBox="1"/>
          <p:nvPr/>
        </p:nvSpPr>
        <p:spPr>
          <a:xfrm>
            <a:off x="2697480" y="2606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Texto flotante</a:t>
            </a:r>
            <a:endParaRPr lang="en-US" sz="1500" dirty="0"/>
          </a:p>
        </p:txBody>
      </p:sp>
      <p:sp>
        <p:nvSpPr>
          <p:cNvPr id="12" name="Texto 2"/>
          <p:cNvSpPr txBox="1"/>
          <p:nvPr/>
        </p:nvSpPr>
        <p:spPr>
          <a:xfrm>
            <a:off x="2743200" y="29718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«+10» que sube y se desvanece.</a:t>
            </a:r>
            <a:endParaRPr lang="en-US" sz="1200" dirty="0"/>
          </a:p>
        </p:txBody>
      </p:sp>
      <p:sp>
        <p:nvSpPr>
          <p:cNvPr id="13" name="Tarjeta 3"/>
          <p:cNvSpPr/>
          <p:nvPr/>
        </p:nvSpPr>
        <p:spPr>
          <a:xfrm>
            <a:off x="4663440" y="1600200"/>
            <a:ext cx="1874520" cy="228600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14" name="Circulo 3"/>
          <p:cNvSpPr/>
          <p:nvPr/>
        </p:nvSpPr>
        <p:spPr>
          <a:xfrm>
            <a:off x="5303520" y="18288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396" y="1979676"/>
            <a:ext cx="292608" cy="292608"/>
          </a:xfrm>
          <a:prstGeom prst="rect">
            <a:avLst/>
          </a:prstGeom>
        </p:spPr>
      </p:pic>
      <p:sp>
        <p:nvSpPr>
          <p:cNvPr id="16" name="Titulo 3"/>
          <p:cNvSpPr txBox="1"/>
          <p:nvPr/>
        </p:nvSpPr>
        <p:spPr>
          <a:xfrm>
            <a:off x="4754880" y="2606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Tweens</a:t>
            </a:r>
            <a:endParaRPr lang="en-US" sz="1500" dirty="0"/>
          </a:p>
        </p:txBody>
      </p:sp>
      <p:sp>
        <p:nvSpPr>
          <p:cNvPr id="17" name="Texto 3"/>
          <p:cNvSpPr txBox="1"/>
          <p:nvPr/>
        </p:nvSpPr>
        <p:spPr>
          <a:xfrm>
            <a:off x="4800600" y="29718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Latido de la manzana, giro de la estrella y aviso de nivel.</a:t>
            </a:r>
            <a:endParaRPr lang="en-US" sz="1200" dirty="0"/>
          </a:p>
        </p:txBody>
      </p:sp>
      <p:sp>
        <p:nvSpPr>
          <p:cNvPr id="18" name="Tarjeta 4"/>
          <p:cNvSpPr/>
          <p:nvPr/>
        </p:nvSpPr>
        <p:spPr>
          <a:xfrm>
            <a:off x="6720840" y="1600200"/>
            <a:ext cx="1874520" cy="228600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19" name="Circulo 4"/>
          <p:cNvSpPr/>
          <p:nvPr/>
        </p:nvSpPr>
        <p:spPr>
          <a:xfrm>
            <a:off x="7360920" y="18288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con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1796" y="1979676"/>
            <a:ext cx="292608" cy="292608"/>
          </a:xfrm>
          <a:prstGeom prst="rect">
            <a:avLst/>
          </a:prstGeom>
        </p:spPr>
      </p:pic>
      <p:sp>
        <p:nvSpPr>
          <p:cNvPr id="21" name="Titulo 4"/>
          <p:cNvSpPr txBox="1"/>
          <p:nvPr/>
        </p:nvSpPr>
        <p:spPr>
          <a:xfrm>
            <a:off x="6812280" y="2606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Sonidos</a:t>
            </a:r>
            <a:endParaRPr lang="en-US" sz="1500" dirty="0"/>
          </a:p>
        </p:txBody>
      </p:sp>
      <p:sp>
        <p:nvSpPr>
          <p:cNvPr id="22" name="Texto 4"/>
          <p:cNvSpPr txBox="1"/>
          <p:nvPr/>
        </p:nvSpPr>
        <p:spPr>
          <a:xfrm>
            <a:off x="6858000" y="29718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Tonos distintos al comer, tomar poderes y perder.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 de la Partida</a:t>
            </a:r>
            <a:endParaRPr lang="en-US" sz="3200" dirty="0"/>
          </a:p>
        </p:txBody>
      </p:sp>
      <p:sp>
        <p:nvSpPr>
          <p:cNvPr id="3" name="Linea"/>
          <p:cNvSpPr/>
          <p:nvPr/>
        </p:nvSpPr>
        <p:spPr>
          <a:xfrm>
            <a:off x="1828800" y="2011680"/>
            <a:ext cx="5486400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4" name="Circulo 1"/>
          <p:cNvSpPr/>
          <p:nvPr/>
        </p:nvSpPr>
        <p:spPr>
          <a:xfrm>
            <a:off x="1527048" y="1709928"/>
            <a:ext cx="603504" cy="603504"/>
          </a:xfrm>
          <a:prstGeom prst="ellipse">
            <a:avLst/>
          </a:prstGeom>
          <a:solidFill>
            <a:schemeClr val="bg2"/>
          </a:solidFill>
          <a:ln w="31750">
            <a:solidFill>
              <a:schemeClr val="accent1"/>
            </a:solidFill>
            <a:prstDash val="solid"/>
          </a:ln>
        </p:spPr>
      </p:sp>
      <p:pic>
        <p:nvPicPr>
          <p:cNvPr id="5" name="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2496" y="1865376"/>
            <a:ext cx="292608" cy="292608"/>
          </a:xfrm>
          <a:prstGeom prst="rect">
            <a:avLst/>
          </a:prstGeom>
        </p:spPr>
      </p:pic>
      <p:sp>
        <p:nvSpPr>
          <p:cNvPr id="6" name="Paso 1"/>
          <p:cNvSpPr txBox="1"/>
          <p:nvPr/>
        </p:nvSpPr>
        <p:spPr>
          <a:xfrm>
            <a:off x="685800" y="2514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1. Choque</a:t>
            </a:r>
            <a:endParaRPr lang="en-US" sz="1800" dirty="0"/>
          </a:p>
        </p:txBody>
      </p:sp>
      <p:sp>
        <p:nvSpPr>
          <p:cNvPr id="7" name="Detalle 1"/>
          <p:cNvSpPr txBox="1"/>
          <p:nvPr/>
        </p:nvSpPr>
        <p:spPr>
          <a:xfrm>
            <a:off x="685800" y="2880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Pared o propio cuerpo, salvo que tengas escudo. La cámara tiembla.</a:t>
            </a:r>
            <a:endParaRPr lang="en-US" sz="1200" dirty="0"/>
          </a:p>
        </p:txBody>
      </p:sp>
      <p:sp>
        <p:nvSpPr>
          <p:cNvPr id="8" name="Circulo 2"/>
          <p:cNvSpPr/>
          <p:nvPr/>
        </p:nvSpPr>
        <p:spPr>
          <a:xfrm>
            <a:off x="4270248" y="1709928"/>
            <a:ext cx="603504" cy="603504"/>
          </a:xfrm>
          <a:prstGeom prst="ellipse">
            <a:avLst/>
          </a:prstGeom>
          <a:solidFill>
            <a:schemeClr val="bg2"/>
          </a:solidFill>
          <a:ln w="31750">
            <a:solidFill>
              <a:schemeClr val="accent1"/>
            </a:solidFill>
            <a:prstDash val="solid"/>
          </a:ln>
        </p:spPr>
      </p:sp>
      <p:pic>
        <p:nvPicPr>
          <p:cNvPr id="9" name="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1865376"/>
            <a:ext cx="292608" cy="292608"/>
          </a:xfrm>
          <a:prstGeom prst="rect">
            <a:avLst/>
          </a:prstGeom>
        </p:spPr>
      </p:pic>
      <p:sp>
        <p:nvSpPr>
          <p:cNvPr id="10" name="Paso 2"/>
          <p:cNvSpPr txBox="1"/>
          <p:nvPr/>
        </p:nvSpPr>
        <p:spPr>
          <a:xfrm>
            <a:off x="3429000" y="2514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 Récord</a:t>
            </a:r>
            <a:endParaRPr lang="en-US" sz="1800" dirty="0"/>
          </a:p>
        </p:txBody>
      </p:sp>
      <p:sp>
        <p:nvSpPr>
          <p:cNvPr id="11" name="Detalle 2"/>
          <p:cNvSpPr txBox="1"/>
          <p:nvPr/>
        </p:nvSpPr>
        <p:spPr>
          <a:xfrm>
            <a:off x="3429000" y="2880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Si superas la mejor marca aparece «¡Nuevo récord!» y se guarda.</a:t>
            </a:r>
            <a:endParaRPr lang="en-US" sz="1200" dirty="0"/>
          </a:p>
        </p:txBody>
      </p:sp>
      <p:sp>
        <p:nvSpPr>
          <p:cNvPr id="12" name="Circulo 3"/>
          <p:cNvSpPr/>
          <p:nvPr/>
        </p:nvSpPr>
        <p:spPr>
          <a:xfrm>
            <a:off x="7013448" y="1709928"/>
            <a:ext cx="603504" cy="603504"/>
          </a:xfrm>
          <a:prstGeom prst="ellipse">
            <a:avLst/>
          </a:prstGeom>
          <a:solidFill>
            <a:schemeClr val="accent1"/>
          </a:solidFill>
          <a:ln w="31750">
            <a:solidFill>
              <a:schemeClr val="accent1"/>
            </a:solidFill>
            <a:prstDash val="solid"/>
          </a:ln>
        </p:spPr>
      </p:sp>
      <p:pic>
        <p:nvPicPr>
          <p:cNvPr id="13" name="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896" y="1865376"/>
            <a:ext cx="292608" cy="292608"/>
          </a:xfrm>
          <a:prstGeom prst="rect">
            <a:avLst/>
          </a:prstGeom>
        </p:spPr>
      </p:pic>
      <p:sp>
        <p:nvSpPr>
          <p:cNvPr id="14" name="Paso 3"/>
          <p:cNvSpPr txBox="1"/>
          <p:nvPr/>
        </p:nvSpPr>
        <p:spPr>
          <a:xfrm>
            <a:off x="6172200" y="2514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3. Reinicio</a:t>
            </a:r>
            <a:endParaRPr lang="en-US" sz="1800" dirty="0"/>
          </a:p>
        </p:txBody>
      </p:sp>
      <p:sp>
        <p:nvSpPr>
          <p:cNvPr id="15" name="Detalle 3"/>
          <p:cNvSpPr txBox="1"/>
          <p:nvPr/>
        </p:nvSpPr>
        <p:spPr>
          <a:xfrm>
            <a:off x="6172200" y="2880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Espacio o tocar para reintentar; M vuelve al menú.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Arquitectura del Código</a:t>
            </a:r>
            <a:endParaRPr lang="en-US" sz="3200" dirty="0"/>
          </a:p>
        </p:txBody>
      </p:sp>
      <p:sp>
        <p:nvSpPr>
          <p:cNvPr id="3" name="Fila 1"/>
          <p:cNvSpPr/>
          <p:nvPr/>
        </p:nvSpPr>
        <p:spPr>
          <a:xfrm>
            <a:off x="1097280" y="1325880"/>
            <a:ext cx="6949440" cy="475488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</p:sp>
      <p:sp>
        <p:nvSpPr>
          <p:cNvPr id="4" name="Archivo 1"/>
          <p:cNvSpPr txBox="1"/>
          <p:nvPr/>
        </p:nvSpPr>
        <p:spPr>
          <a:xfrm>
            <a:off x="1371600" y="13258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endParaRPr lang="en-US" sz="1400" dirty="0"/>
          </a:p>
        </p:txBody>
      </p:sp>
      <p:sp>
        <p:nvSpPr>
          <p:cNvPr id="5" name="Descripcion 1"/>
          <p:cNvSpPr txBox="1"/>
          <p:nvPr/>
        </p:nvSpPr>
        <p:spPr>
          <a:xfrm>
            <a:off x="3154680" y="132588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</a:rPr>
              <a:t>Carga Phaser desde CDN y ajusta el lienzo a la pantalla.</a:t>
            </a:r>
            <a:endParaRPr lang="en-US" sz="1300" dirty="0"/>
          </a:p>
        </p:txBody>
      </p:sp>
      <p:sp>
        <p:nvSpPr>
          <p:cNvPr id="6" name="Fila 2"/>
          <p:cNvSpPr/>
          <p:nvPr/>
        </p:nvSpPr>
        <p:spPr>
          <a:xfrm>
            <a:off x="1097280" y="1929384"/>
            <a:ext cx="6949440" cy="475488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</p:sp>
      <p:sp>
        <p:nvSpPr>
          <p:cNvPr id="7" name="Archivo 2"/>
          <p:cNvSpPr txBox="1"/>
          <p:nvPr/>
        </p:nvSpPr>
        <p:spPr>
          <a:xfrm>
            <a:off x="1371600" y="192938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draw*()</a:t>
            </a:r>
            <a:endParaRPr lang="en-US" sz="1400" dirty="0"/>
          </a:p>
        </p:txBody>
      </p:sp>
      <p:sp>
        <p:nvSpPr>
          <p:cNvPr id="8" name="Descripcion 2"/>
          <p:cNvSpPr txBox="1"/>
          <p:nvPr/>
        </p:nvSpPr>
        <p:spPr>
          <a:xfrm>
            <a:off x="3154680" y="1929384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</a:rPr>
              <a:t>Dibujo con relieve de la serpiente y los objetos.</a:t>
            </a:r>
            <a:endParaRPr lang="en-US" sz="1300" dirty="0"/>
          </a:p>
        </p:txBody>
      </p:sp>
      <p:sp>
        <p:nvSpPr>
          <p:cNvPr id="9" name="Fila 3"/>
          <p:cNvSpPr/>
          <p:nvPr/>
        </p:nvSpPr>
        <p:spPr>
          <a:xfrm>
            <a:off x="1097280" y="2532888"/>
            <a:ext cx="6949440" cy="475488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</p:sp>
      <p:sp>
        <p:nvSpPr>
          <p:cNvPr id="10" name="Archivo 3"/>
          <p:cNvSpPr txBox="1"/>
          <p:nvPr/>
        </p:nvSpPr>
        <p:spPr>
          <a:xfrm>
            <a:off x="1371600" y="253288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SCENARIOS</a:t>
            </a:r>
            <a:endParaRPr lang="en-US" sz="1400" dirty="0"/>
          </a:p>
        </p:txBody>
      </p:sp>
      <p:sp>
        <p:nvSpPr>
          <p:cNvPr id="11" name="Descripcion 3"/>
          <p:cNvSpPr txBox="1"/>
          <p:nvPr/>
        </p:nvSpPr>
        <p:spPr>
          <a:xfrm>
            <a:off x="3154680" y="2532888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</a:rPr>
              <a:t>Los cinco escenarios y sus partículas de ambiente.</a:t>
            </a:r>
            <a:endParaRPr lang="en-US" sz="1300" dirty="0"/>
          </a:p>
        </p:txBody>
      </p:sp>
      <p:sp>
        <p:nvSpPr>
          <p:cNvPr id="12" name="Fila 4"/>
          <p:cNvSpPr/>
          <p:nvPr/>
        </p:nvSpPr>
        <p:spPr>
          <a:xfrm>
            <a:off x="1097280" y="3136392"/>
            <a:ext cx="6949440" cy="475488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</p:sp>
      <p:sp>
        <p:nvSpPr>
          <p:cNvPr id="13" name="Archivo 4"/>
          <p:cNvSpPr txBox="1"/>
          <p:nvPr/>
        </p:nvSpPr>
        <p:spPr>
          <a:xfrm>
            <a:off x="1371600" y="313639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MenuScene</a:t>
            </a:r>
            <a:endParaRPr lang="en-US" sz="1400" dirty="0"/>
          </a:p>
        </p:txBody>
      </p:sp>
      <p:sp>
        <p:nvSpPr>
          <p:cNvPr id="14" name="Descripcion 4"/>
          <p:cNvSpPr txBox="1"/>
          <p:nvPr/>
        </p:nvSpPr>
        <p:spPr>
          <a:xfrm>
            <a:off x="3154680" y="313639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</a:rPr>
              <a:t>Pantalla de título con instrucciones y récord.</a:t>
            </a:r>
            <a:endParaRPr lang="en-US" sz="1300" dirty="0"/>
          </a:p>
        </p:txBody>
      </p:sp>
      <p:sp>
        <p:nvSpPr>
          <p:cNvPr id="15" name="Fila 5"/>
          <p:cNvSpPr/>
          <p:nvPr/>
        </p:nvSpPr>
        <p:spPr>
          <a:xfrm>
            <a:off x="1097280" y="3739896"/>
            <a:ext cx="6949440" cy="475488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</p:sp>
      <p:sp>
        <p:nvSpPr>
          <p:cNvPr id="16" name="Archivo 5"/>
          <p:cNvSpPr txBox="1"/>
          <p:nvPr/>
        </p:nvSpPr>
        <p:spPr>
          <a:xfrm>
            <a:off x="1371600" y="373989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SnakeScene</a:t>
            </a:r>
            <a:endParaRPr lang="en-US" sz="1400" dirty="0"/>
          </a:p>
        </p:txBody>
      </p:sp>
      <p:sp>
        <p:nvSpPr>
          <p:cNvPr id="17" name="Descripcion 5"/>
          <p:cNvSpPr txBox="1"/>
          <p:nvPr/>
        </p:nvSpPr>
        <p:spPr>
          <a:xfrm>
            <a:off x="3154680" y="3739896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</a:rPr>
              <a:t>Bucle, comida, poderes, niveles, pausa y Game Over.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nake Phaser">
  <a:themeElements>
    <a:clrScheme name="Snake Phaser">
      <a:dk1>
        <a:srgbClr val="0F172A"/>
      </a:dk1>
      <a:lt1>
        <a:srgbClr val="FFFFFF"/>
      </a:lt1>
      <a:dk2>
        <a:srgbClr val="1E293B"/>
      </a:dk2>
      <a:lt2>
        <a:srgbClr val="F1F5F9"/>
      </a:lt2>
      <a:accent1>
        <a:srgbClr val="16A34A"/>
      </a:accent1>
      <a:accent2>
        <a:srgbClr val="DCFCE7"/>
      </a:accent2>
      <a:accent3>
        <a:srgbClr val="64748B"/>
      </a:accent3>
      <a:accent4>
        <a:srgbClr val="475569"/>
      </a:accent4>
      <a:accent5>
        <a:srgbClr val="E2E8F0"/>
      </a:accent5>
      <a:accent6>
        <a:srgbClr val="1E2A3F"/>
      </a:accent6>
      <a:hlink>
        <a:srgbClr val="16A34A"/>
      </a:hlink>
      <a:folHlink>
        <a:srgbClr val="15803D"/>
      </a:folHlink>
    </a:clrScheme>
    <a:fontScheme name="Snake Phaser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Snake - Phaser 3</dc:title>
  <dc:subject>PptxGenJS Presentation</dc:subject>
  <dc:creator>Carol Abigail Velásquez Cando</dc:creator>
  <cp:lastModifiedBy>Carol Abigail Velásquez Cando</cp:lastModifiedBy>
  <cp:revision>1</cp:revision>
  <dcterms:created xsi:type="dcterms:W3CDTF">2026-10-30T00:22:57Z</dcterms:created>
  <dcterms:modified xsi:type="dcterms:W3CDTF">2026-10-30T00:22:57Z</dcterms:modified>
</cp:coreProperties>
</file>